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11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Aucune source publique sur ce prospect : il est tiré de la grille FICTIVE 4.2. Contexte à remplacer par le compte rendu du premier rendez-vous.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montrer : la page /garantie et le bouton WhatsApp. Délai de prise en charge : non publié, ⟦à confirmer par Revvo⟧, ne pas le promettre.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certificat montré doit être celui d'un appareil réel du stock, vérifié la veille.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Aucune remise, aucun prix de lot : non publiés. Stock à vérifier le jour même (le catalogue montre des ruptures). Chargeur offert à chaque achat (accueil).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: revvo.africa/garantie et FAQ de l'accueil, lues le 15/10/2026.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Démo à la boutique (Ivoire Trade Center, Tour D, Cocody) ou chez le prospect avec un appareil. Secours : captures des pages si le réseau tombe.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 est présenté sur le site pour des particuliers ; son usage par une entreprise n'est pas publié.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Objections construites pour un acheteur d'entreprise : à remplacer par celles du premier rendez-vous.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11" cy="6858000"/>
          </a:xfrm>
          <a:prstGeom prst="rect">
            <a:avLst/>
          </a:prstGeom>
          <a:solidFill>
            <a:srgbClr val="0B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00D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4000" y="504000"/>
            <a:ext cx="2304000" cy="100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00" y="576000"/>
            <a:ext cx="2279489" cy="86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4000" y="1980000"/>
            <a:ext cx="1008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Plus Jakarta Sans"/>
              </a:rPr>
              <a:t>Des iPhone garantis pour vos consultants : la démonstration Revvo</a:t>
            </a:r>
          </a:p>
          <a:p>
            <a:r>
              <a:rPr sz="1700" b="0">
                <a:solidFill>
                  <a:srgbClr val="00D5BE"/>
                </a:solidFill>
                <a:latin typeface="Plus Jakarta Sans"/>
              </a:rPr>
              <a:t>Pour un cabinet de conseil et d'audit du Plateau (compte C01 de la grille 4.2) · 30 minutes · 15 octobre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" y="5040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3CD"/>
                </a:solidFill>
                <a:latin typeface="Plus Jakarta Sans"/>
              </a:rPr>
              <a:t>FICTIF : le prospect et ses cas sont inventés pour l'entraînement. Les faits sur Revvo viennent de revvo.africa (15/10/2026).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0B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00D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000" y="324000"/>
            <a:ext cx="1329702" cy="50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432000"/>
            <a:ext cx="95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F12"/>
                </a:solidFill>
                <a:latin typeface="Plus Jakarta Sans"/>
              </a:rPr>
              <a:t>Ce que nous avons compris de votre besoin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440000"/>
            <a:ext cx="100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latin typeface="Plus Jakarta Sans"/>
              </a:rPr>
              <a:t>• </a:t>
            </a:r>
            <a:r>
              <a:rPr sz="1900" b="1">
                <a:latin typeface="Plus Jakarta Sans"/>
              </a:rPr>
              <a:t>Vos consultants travaillent sur leur téléphone toute la journée</a:t>
            </a:r>
            <a:r>
              <a:rPr sz="1900" b="0">
                <a:latin typeface="Plus Jakarta Sans"/>
              </a:rPr>
              <a:t> : un appareil en panne, c'est une journée de mission perturbée [FICTIF, hypothèse de travail].</a:t>
            </a:r>
          </a:p>
          <a:p>
            <a:pPr>
              <a:spcAft>
                <a:spcPts val="1200"/>
              </a:spcAft>
            </a:pPr>
            <a:r>
              <a:rPr sz="1900" b="0">
                <a:latin typeface="Plus Jakarta Sans"/>
              </a:rPr>
              <a:t>• </a:t>
            </a:r>
            <a:r>
              <a:rPr sz="1900" b="1">
                <a:latin typeface="Plus Jakarta Sans"/>
              </a:rPr>
              <a:t>Vous voulez équiper 12 personnes</a:t>
            </a:r>
            <a:r>
              <a:rPr sz="1900" b="0">
                <a:latin typeface="Plus Jakarta Sans"/>
              </a:rPr>
              <a:t> sans payer le prix du neuf, mais </a:t>
            </a:r>
            <a:r>
              <a:rPr sz="1900" b="1">
                <a:latin typeface="Plus Jakarta Sans"/>
              </a:rPr>
              <a:t>vous vous méfiez du reconditionné</a:t>
            </a:r>
            <a:r>
              <a:rPr sz="1900" b="0">
                <a:latin typeface="Plus Jakarta Sans"/>
              </a:rPr>
              <a:t> : batterie usée, faux iPhone, aucun recours [FICTIF].</a:t>
            </a:r>
          </a:p>
          <a:p>
            <a:pPr>
              <a:spcAft>
                <a:spcPts val="1200"/>
              </a:spcAft>
            </a:pPr>
            <a:r>
              <a:rPr sz="1900" b="0">
                <a:latin typeface="Plus Jakarta Sans"/>
              </a:rPr>
              <a:t>• </a:t>
            </a:r>
            <a:r>
              <a:rPr sz="1900" b="1">
                <a:latin typeface="Plus Jakarta Sans"/>
              </a:rPr>
              <a:t>Trois questions reviennent</a:t>
            </a:r>
            <a:r>
              <a:rPr sz="1900" b="0">
                <a:latin typeface="Plus Jakarta Sans"/>
              </a:rPr>
              <a:t> : qui répare si ça casse en mission ? est-ce un vrai iPhone, non bloqué ? combien ça coûte, sans surprise ?</a:t>
            </a:r>
          </a:p>
          <a:p>
            <a:pPr>
              <a:spcAft>
                <a:spcPts val="1200"/>
              </a:spcAft>
            </a:pPr>
            <a:r>
              <a:rPr sz="1900" b="0">
                <a:latin typeface="Plus Jakarta Sans"/>
              </a:rPr>
              <a:t>• </a:t>
            </a:r>
            <a:r>
              <a:rPr sz="1900" b="1">
                <a:latin typeface="Plus Jakarta Sans"/>
              </a:rPr>
              <a:t>Ce que nous vous montrons</a:t>
            </a:r>
            <a:r>
              <a:rPr sz="1900" b="0">
                <a:latin typeface="Plus Jakarta Sans"/>
              </a:rPr>
              <a:t> : ces trois situations, sur revvo.africa et à la boutique, avec une liste de 12 appareils préparée à votre nom.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08000" y="6336000"/>
            <a:ext cx="34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6B4E00"/>
                </a:solidFill>
                <a:latin typeface="Plus Jakarta Sans"/>
              </a:rPr>
              <a:t>FICTIF : prospect, cas et quantités inventés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" y="6120000"/>
            <a:ext cx="72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55555"/>
                </a:solidFill>
                <a:latin typeface="Plus Jakarta Sans"/>
              </a:rPr>
              <a:t>Aucune source publique sur ce prospect : il est tiré de la grille FICTIVE 4.2. Contexte à remplacer par le compte rendu du premier rendez-vous.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0B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00D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000" y="324000"/>
            <a:ext cx="1329702" cy="50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432000"/>
            <a:ext cx="95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F12"/>
                </a:solidFill>
                <a:latin typeface="Plus Jakarta Sans"/>
              </a:rPr>
              <a:t>Situation 1 : « Le téléphone lâche en pleine mission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440000"/>
            <a:ext cx="1026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555"/>
                </a:solidFill>
                <a:latin typeface="Plus Jakarta Sans"/>
              </a:rPr>
              <a:t>Un consultant appelle le lundi : l'écran ne répond plus [FICTIF]. Voici ce qui se passe chez Revvo.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4000" y="2160000"/>
          <a:ext cx="1026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0000"/>
                <a:gridCol w="5130000"/>
              </a:tblGrid>
              <a:tr h="36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lus Jakarta Sans"/>
                        </a:rPr>
                        <a:t>Étape</a:t>
                      </a:r>
                    </a:p>
                  </a:txBody>
                  <a:tcPr>
                    <a:solidFill>
                      <a:srgbClr val="0B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lus Jakarta Sans"/>
                        </a:rPr>
                        <a:t>Ce que dit Revvo (revvo.africa/garantie)</a:t>
                      </a:r>
                    </a:p>
                  </a:txBody>
                  <a:tcPr>
                    <a:solidFill>
                      <a:srgbClr val="0B0F12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1. Il écrit au service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Sur WhatsApp (07 03 97 97 97) ou à la boutique, avec une description précise du défaut et la preuve d'achat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2. Revvo vérifie l'éligibilité</a:t>
                      </a:r>
                    </a:p>
                  </a:txBody>
                  <a:tcPr>
                    <a:solidFill>
                      <a:srgbClr val="E6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Couverts : défaut de fabrication, panne technique de l'écran ou de la batterie (hors choc et eau), défaillance logicielle d'origine</a:t>
                      </a:r>
                    </a:p>
                  </a:txBody>
                  <a:tcPr>
                    <a:solidFill>
                      <a:srgbClr val="E6F8F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3. Revvo propose une solution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Soit la réparation gratuite, soit le remplacement par un produit équivalent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4. La durée</a:t>
                      </a:r>
                    </a:p>
                  </a:txBody>
                  <a:tcPr>
                    <a:solidFill>
                      <a:srgbClr val="E6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Garantie de 6 mois sur chaque iPhone vendu (/a-propos)</a:t>
                      </a:r>
                    </a:p>
                  </a:txBody>
                  <a:tcPr>
                    <a:solidFill>
                      <a:srgbClr val="E6F8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08000" y="6336000"/>
            <a:ext cx="34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6B4E00"/>
                </a:solidFill>
                <a:latin typeface="Plus Jakarta Sans"/>
              </a:rPr>
              <a:t>FICTIF : prospect, cas et quantités inventés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" y="6120000"/>
            <a:ext cx="72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55555"/>
                </a:solidFill>
                <a:latin typeface="Plus Jakarta Sans"/>
              </a:rPr>
              <a:t>À montrer : la page /garantie et le bouton WhatsApp. Délai de prise en charge : non publié, ⟦à confirmer par Revvo⟧, ne pas le promettre.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0B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00D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000" y="324000"/>
            <a:ext cx="1329702" cy="50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432000"/>
            <a:ext cx="95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F12"/>
                </a:solidFill>
                <a:latin typeface="Plus Jakarta Sans"/>
              </a:rPr>
              <a:t>Situation 2 : « Est-ce un vrai iPhone, et pas bloqué ?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440000"/>
            <a:ext cx="1026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555"/>
                </a:solidFill>
                <a:latin typeface="Plus Jakarta Sans"/>
              </a:rPr>
              <a:t>Votre directeur administratif a déjà vu passer de faux iPhone à prix cassés [FICTIF]. Trois preuves à montrer en direct.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4000" y="2160000"/>
          <a:ext cx="1026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/>
                <a:gridCol w="3420000"/>
                <a:gridCol w="3420000"/>
              </a:tblGrid>
              <a:tr h="36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lus Jakarta Sans"/>
                        </a:rPr>
                        <a:t>La crainte</a:t>
                      </a:r>
                    </a:p>
                  </a:txBody>
                  <a:tcPr>
                    <a:solidFill>
                      <a:srgbClr val="0B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lus Jakarta Sans"/>
                        </a:rPr>
                        <a:t>La preuve Revvo</a:t>
                      </a:r>
                    </a:p>
                  </a:txBody>
                  <a:tcPr>
                    <a:solidFill>
                      <a:srgbClr val="0B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lus Jakarta Sans"/>
                        </a:rPr>
                        <a:t>Où la montrer</a:t>
                      </a:r>
                    </a:p>
                  </a:txBody>
                  <a:tcPr>
                    <a:solidFill>
                      <a:srgbClr val="0B0F12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Un appareil mal contrôlé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Plus de 50 points testés (batterie, écran, caméra, connectivité), résultat consigné dans un certificat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/a-propos ; un certificat réel posé sur la 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Un faux ou un appareil d'une autre source</a:t>
                      </a:r>
                    </a:p>
                  </a:txBody>
                  <a:tcPr>
                    <a:solidFill>
                      <a:srgbClr val="E6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Vérification par les 6 derniers chiffres de l'IMEI (composer *#06#)</a:t>
                      </a:r>
                    </a:p>
                  </a:txBody>
                  <a:tcPr>
                    <a:solidFill>
                      <a:srgbClr val="E6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/verifier-mon-telephone, en direct</a:t>
                      </a:r>
                    </a:p>
                  </a:txBody>
                  <a:tcPr>
                    <a:solidFill>
                      <a:srgbClr val="E6F8F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Un iPhone lié au compte iCloud d'un autre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Contrôle iCloud et remise à zéro avant la vente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Blog « Jumia ou Revvo 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Les arnaques du marché</a:t>
                      </a:r>
                    </a:p>
                  </a:txBody>
                  <a:tcPr>
                    <a:solidFill>
                      <a:srgbClr val="E6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Article Revvo « iPhone XR 2026 : l'arnaque qui fait fureur à Abidjan » (23/01/2026)</a:t>
                      </a:r>
                    </a:p>
                  </a:txBody>
                  <a:tcPr>
                    <a:solidFill>
                      <a:srgbClr val="E6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/blog</a:t>
                      </a:r>
                    </a:p>
                  </a:txBody>
                  <a:tcPr>
                    <a:solidFill>
                      <a:srgbClr val="E6F8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08000" y="6336000"/>
            <a:ext cx="34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6B4E00"/>
                </a:solidFill>
                <a:latin typeface="Plus Jakarta Sans"/>
              </a:rPr>
              <a:t>FICTIF : prospect, cas et quantités inventés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" y="6120000"/>
            <a:ext cx="72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55555"/>
                </a:solidFill>
                <a:latin typeface="Plus Jakarta Sans"/>
              </a:rPr>
              <a:t>Le certificat montré doit être celui d'un appareil réel du stock, vérifié la veille.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0B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00D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000" y="324000"/>
            <a:ext cx="1329702" cy="50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432000"/>
            <a:ext cx="95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F12"/>
                </a:solidFill>
                <a:latin typeface="Plus Jakarta Sans"/>
              </a:rPr>
              <a:t>Situation 3 : équiper 12 personnes, sans surprise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440000"/>
            <a:ext cx="1026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555"/>
                </a:solidFill>
                <a:latin typeface="Plus Jakarta Sans"/>
              </a:rPr>
              <a:t>La liste de démonstration : postes et quantités FICTIFS, prix publics « à partir de » lus sur revvo.africa le 15/10/2026.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4000" y="2160000"/>
          <a:ext cx="1026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000"/>
                <a:gridCol w="2052000"/>
                <a:gridCol w="2052000"/>
                <a:gridCol w="2052000"/>
                <a:gridCol w="2052000"/>
              </a:tblGrid>
              <a:tr h="36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lus Jakarta Sans"/>
                        </a:rPr>
                        <a:t>Poste [FICTIF]</a:t>
                      </a:r>
                    </a:p>
                  </a:txBody>
                  <a:tcPr>
                    <a:solidFill>
                      <a:srgbClr val="0B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lus Jakarta Sans"/>
                        </a:rPr>
                        <a:t>Modèle</a:t>
                      </a:r>
                    </a:p>
                  </a:txBody>
                  <a:tcPr>
                    <a:solidFill>
                      <a:srgbClr val="0B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lus Jakarta Sans"/>
                        </a:rPr>
                        <a:t>Qté [FICTIF]</a:t>
                      </a:r>
                    </a:p>
                  </a:txBody>
                  <a:tcPr>
                    <a:solidFill>
                      <a:srgbClr val="0B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lus Jakarta Sans"/>
                        </a:rPr>
                        <a:t>Prix public unitaire</a:t>
                      </a:r>
                    </a:p>
                  </a:txBody>
                  <a:tcPr>
                    <a:solidFill>
                      <a:srgbClr val="0B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lus Jakarta Sans"/>
                        </a:rPr>
                        <a:t>Sous-total</a:t>
                      </a:r>
                    </a:p>
                  </a:txBody>
                  <a:tcPr>
                    <a:solidFill>
                      <a:srgbClr val="0B0F12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Associés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iPhone 14 Pro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340 000 FCFA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680 000 FCFA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Consultants</a:t>
                      </a:r>
                    </a:p>
                  </a:txBody>
                  <a:tcPr>
                    <a:solidFill>
                      <a:srgbClr val="E6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iPhone 13</a:t>
                      </a:r>
                    </a:p>
                  </a:txBody>
                  <a:tcPr>
                    <a:solidFill>
                      <a:srgbClr val="E6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6</a:t>
                      </a:r>
                    </a:p>
                  </a:txBody>
                  <a:tcPr>
                    <a:solidFill>
                      <a:srgbClr val="E6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185 000 FCFA</a:t>
                      </a:r>
                    </a:p>
                  </a:txBody>
                  <a:tcPr>
                    <a:solidFill>
                      <a:srgbClr val="E6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1 110 000 FCFA</a:t>
                      </a:r>
                    </a:p>
                  </a:txBody>
                  <a:tcPr>
                    <a:solidFill>
                      <a:srgbClr val="E6F8F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Assistants et chargés de mission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iPhone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140 000 FCFA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560 000 FCFA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300" b="1">
                          <a:latin typeface="Plus Jakarta Sans"/>
                        </a:rPr>
                        <a:t>Total, prix publics</a:t>
                      </a:r>
                    </a:p>
                  </a:txBody>
                  <a:tcPr>
                    <a:solidFill>
                      <a:srgbClr val="E6F8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6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Plus Jakarta Sans"/>
                        </a:rPr>
                        <a:t>12</a:t>
                      </a:r>
                    </a:p>
                  </a:txBody>
                  <a:tcPr>
                    <a:solidFill>
                      <a:srgbClr val="E6F8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6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Plus Jakarta Sans"/>
                        </a:rPr>
                        <a:t>2 350 000 FCFA</a:t>
                      </a:r>
                    </a:p>
                  </a:txBody>
                  <a:tcPr>
                    <a:solidFill>
                      <a:srgbClr val="E6F8F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Option : batterie neuve 100 % sur les 6 iPhone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+ 10 000 FCFA l'unité (fiche iPhone 13)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10 000 FCFA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60 000 FCFA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08000" y="6336000"/>
            <a:ext cx="34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6B4E00"/>
                </a:solidFill>
                <a:latin typeface="Plus Jakarta Sans"/>
              </a:rPr>
              <a:t>FICTIF : prospect, cas et quantités inventés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" y="6120000"/>
            <a:ext cx="72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55555"/>
                </a:solidFill>
                <a:latin typeface="Plus Jakarta Sans"/>
              </a:rPr>
              <a:t>Aucune remise, aucun prix de lot : non publiés. Stock à vérifier le jour même (le catalogue montre des ruptures). Chargeur offert à chaque achat (accueil).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0B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00D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000" y="324000"/>
            <a:ext cx="1329702" cy="50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432000"/>
            <a:ext cx="95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F12"/>
                </a:solidFill>
                <a:latin typeface="Plus Jakarta Sans"/>
              </a:rPr>
              <a:t>Ce que couvre la garantie, et ce qu'elle ne couvre 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440000"/>
            <a:ext cx="1026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555"/>
                </a:solidFill>
                <a:latin typeface="Plus Jakarta Sans"/>
              </a:rPr>
              <a:t>On le dit avant que le client ne le découvre : c'est ce qui rend le reste crédible.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4000" y="2160000"/>
          <a:ext cx="1026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0000"/>
                <a:gridCol w="5130000"/>
              </a:tblGrid>
              <a:tr h="36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lus Jakarta Sans"/>
                        </a:rPr>
                        <a:t>Couvert (6 mois)</a:t>
                      </a:r>
                    </a:p>
                  </a:txBody>
                  <a:tcPr>
                    <a:solidFill>
                      <a:srgbClr val="0B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lus Jakarta Sans"/>
                        </a:rPr>
                        <a:t>Non couvert</a:t>
                      </a:r>
                    </a:p>
                  </a:txBody>
                  <a:tcPr>
                    <a:solidFill>
                      <a:srgbClr val="0B0F12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Défauts de fabrication, à la livraison ou à l'usage normal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Casse accidentelle : écran fissuré, boîtier endommagé, chocs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Pannes techniques de l'écran ou de la batterie, hors choc et eau</a:t>
                      </a:r>
                    </a:p>
                  </a:txBody>
                  <a:tcPr>
                    <a:solidFill>
                      <a:srgbClr val="E6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Immersion dans l'eau ou un autre liquide</a:t>
                      </a:r>
                    </a:p>
                  </a:txBody>
                  <a:tcPr>
                    <a:solidFill>
                      <a:srgbClr val="E6F8F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Défaillances logicielles d'origine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Réparation ou modification par un tiers non agréé par Revvo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Grades Excellent ou Bon : différence uniquement esthétique, garantie identique (FAQ)</a:t>
                      </a:r>
                    </a:p>
                  </a:txBody>
                  <a:tcPr>
                    <a:solidFill>
                      <a:srgbClr val="E6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Usure normale de la batterie ; usage abusif ou non conforme</a:t>
                      </a:r>
                    </a:p>
                  </a:txBody>
                  <a:tcPr>
                    <a:solidFill>
                      <a:srgbClr val="E6F8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08000" y="6336000"/>
            <a:ext cx="34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6B4E00"/>
                </a:solidFill>
                <a:latin typeface="Plus Jakarta Sans"/>
              </a:rPr>
              <a:t>FICTIF : prospect, cas et quantités inventés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" y="6120000"/>
            <a:ext cx="72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55555"/>
                </a:solidFill>
                <a:latin typeface="Plus Jakarta Sans"/>
              </a:rPr>
              <a:t>Source : revvo.africa/garantie et FAQ de l'accueil, lues le 15/10/2026.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0B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00D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000" y="324000"/>
            <a:ext cx="1329702" cy="50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432000"/>
            <a:ext cx="95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F12"/>
                </a:solidFill>
                <a:latin typeface="Plus Jakarta Sans"/>
              </a:rPr>
              <a:t>Le déroulé de la démonstration (30 minutes)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440000"/>
            <a:ext cx="1026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555"/>
                </a:solidFill>
                <a:latin typeface="Plus Jakarta Sans"/>
              </a:rPr>
              <a:t>Dix minutes de questions s'ajoutent. Répétition à blanc la veille, avec la liste des 12 appareils et un appareil réel.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4000" y="2160000"/>
          <a:ext cx="1026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/>
                <a:gridCol w="3420000"/>
                <a:gridCol w="3420000"/>
              </a:tblGrid>
              <a:tr h="36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lus Jakarta Sans"/>
                        </a:rPr>
                        <a:t>Minutes</a:t>
                      </a:r>
                    </a:p>
                  </a:txBody>
                  <a:tcPr>
                    <a:solidFill>
                      <a:srgbClr val="0B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lus Jakarta Sans"/>
                        </a:rPr>
                        <a:t>Séquence</a:t>
                      </a:r>
                    </a:p>
                  </a:txBody>
                  <a:tcPr>
                    <a:solidFill>
                      <a:srgbClr val="0B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lus Jakarta Sans"/>
                        </a:rPr>
                        <a:t>Ce que le prospect voit</a:t>
                      </a:r>
                    </a:p>
                  </a:txBody>
                  <a:tcPr>
                    <a:solidFill>
                      <a:srgbClr val="0B0F12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0 à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Ouverture : rappeler sa crainte avec ses mots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Sa phrase du premier rendez-vous, à l'écran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3 à 10</a:t>
                      </a:r>
                    </a:p>
                  </a:txBody>
                  <a:tcPr>
                    <a:solidFill>
                      <a:srgbClr val="E6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Situation 1 : la panne en mission</a:t>
                      </a:r>
                    </a:p>
                  </a:txBody>
                  <a:tcPr>
                    <a:solidFill>
                      <a:srgbClr val="E6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La page /garantie, le parcours WhatsApp</a:t>
                      </a:r>
                    </a:p>
                  </a:txBody>
                  <a:tcPr>
                    <a:solidFill>
                      <a:srgbClr val="E6F8F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10 à 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Situation 2 : vrai iPhone, non bloqué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Un iPhone du stock, son certificat, la vérification IMEI en direct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17 à 22</a:t>
                      </a:r>
                    </a:p>
                  </a:txBody>
                  <a:tcPr>
                    <a:solidFill>
                      <a:srgbClr val="E6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Situation 3 : la liste des 12 appareils</a:t>
                      </a:r>
                    </a:p>
                  </a:txBody>
                  <a:tcPr>
                    <a:solidFill>
                      <a:srgbClr val="E6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Le tableau des prix publics et l'option batterie</a:t>
                      </a:r>
                    </a:p>
                  </a:txBody>
                  <a:tcPr>
                    <a:solidFill>
                      <a:srgbClr val="E6F8F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22 à 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Ce qui n'est pas couvert, puis les objections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Les exclusions, les réponses avec leur 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27 à 30</a:t>
                      </a:r>
                    </a:p>
                  </a:txBody>
                  <a:tcPr>
                    <a:solidFill>
                      <a:srgbClr val="E6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Prochaine étape</a:t>
                      </a:r>
                    </a:p>
                  </a:txBody>
                  <a:tcPr>
                    <a:solidFill>
                      <a:srgbClr val="E6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La proposition d'un lot pilote de 3 appareils</a:t>
                      </a:r>
                    </a:p>
                  </a:txBody>
                  <a:tcPr>
                    <a:solidFill>
                      <a:srgbClr val="E6F8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08000" y="6336000"/>
            <a:ext cx="34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6B4E00"/>
                </a:solidFill>
                <a:latin typeface="Plus Jakarta Sans"/>
              </a:rPr>
              <a:t>FICTIF : prospect, cas et quantités inventés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" y="6120000"/>
            <a:ext cx="72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55555"/>
                </a:solidFill>
                <a:latin typeface="Plus Jakarta Sans"/>
              </a:rPr>
              <a:t>Démo à la boutique (Ivoire Trade Center, Tour D, Cocody) ou chez le prospect avec un appareil. Secours : captures des pages si le réseau tombe.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0B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00D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000" y="324000"/>
            <a:ext cx="1329702" cy="50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432000"/>
            <a:ext cx="95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F12"/>
                </a:solidFill>
                <a:latin typeface="Plus Jakarta Sans"/>
              </a:rPr>
              <a:t>Ce qui est montré, promis, laissé hors démo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440000"/>
            <a:ext cx="1026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555"/>
                </a:solidFill>
                <a:latin typeface="Plus Jakarta Sans"/>
              </a:rPr>
              <a:t>Une démonstration ne montre que ce qui existe. Le reste reçoit une réponse honnête, par écrit.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4000" y="2160000"/>
          <a:ext cx="10260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/>
                <a:gridCol w="3420000"/>
                <a:gridCol w="3420000"/>
              </a:tblGrid>
              <a:tr h="36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lus Jakarta Sans"/>
                        </a:rPr>
                        <a:t>Montré</a:t>
                      </a:r>
                    </a:p>
                  </a:txBody>
                  <a:tcPr>
                    <a:solidFill>
                      <a:srgbClr val="0B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lus Jakarta Sans"/>
                        </a:rPr>
                        <a:t>Promis (le site le dit)</a:t>
                      </a:r>
                    </a:p>
                  </a:txBody>
                  <a:tcPr>
                    <a:solidFill>
                      <a:srgbClr val="0B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lus Jakarta Sans"/>
                        </a:rPr>
                        <a:t>Hors démo, réponse prévue</a:t>
                      </a:r>
                    </a:p>
                  </a:txBody>
                  <a:tcPr>
                    <a:solidFill>
                      <a:srgbClr val="0B0F12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La page /garantie ; la vérification IMEI ; un appareil et son certificat 50 points ; la boutique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6 mois de garantie ; réparation gratuite ou remplacement par un équivalent si éligible ; chargeur offert ; livraison à Abidjan en moins de 24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Délai de réparation, point de départ des 6 mois, prix de lot, facture au nom de l'entreprise, paiement Flex pour une entreprise : « je vous le confirme par écrit » ⟦à confirmer par Revvo⟧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08000" y="6336000"/>
            <a:ext cx="34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6B4E00"/>
                </a:solidFill>
                <a:latin typeface="Plus Jakarta Sans"/>
              </a:rPr>
              <a:t>FICTIF : prospect, cas et quantités inventés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" y="6120000"/>
            <a:ext cx="72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55555"/>
                </a:solidFill>
                <a:latin typeface="Plus Jakarta Sans"/>
              </a:rPr>
              <a:t>Flex est présenté sur le site pour des particuliers ; son usage par une entreprise n'est pas publié.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0B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00D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000" y="324000"/>
            <a:ext cx="1329702" cy="50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432000"/>
            <a:ext cx="95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F12"/>
                </a:solidFill>
                <a:latin typeface="Plus Jakarta Sans"/>
              </a:rPr>
              <a:t>Les objections prévues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440000"/>
            <a:ext cx="1026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555"/>
                </a:solidFill>
                <a:latin typeface="Plus Jakarta Sans"/>
              </a:rPr>
              <a:t>Réponse courte, preuve à l'appui. Aucune remise ne se donne en démonstration.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4000" y="2160000"/>
          <a:ext cx="1026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/>
                <a:gridCol w="3420000"/>
                <a:gridCol w="3420000"/>
              </a:tblGrid>
              <a:tr h="36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lus Jakarta Sans"/>
                        </a:rPr>
                        <a:t>Objection [FICTIVE, attendue]</a:t>
                      </a:r>
                    </a:p>
                  </a:txBody>
                  <a:tcPr>
                    <a:solidFill>
                      <a:srgbClr val="0B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lus Jakarta Sans"/>
                        </a:rPr>
                        <a:t>Réponse courte</a:t>
                      </a:r>
                    </a:p>
                  </a:txBody>
                  <a:tcPr>
                    <a:solidFill>
                      <a:srgbClr val="0B0F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Plus Jakarta Sans"/>
                        </a:rPr>
                        <a:t>Preuve</a:t>
                      </a:r>
                    </a:p>
                  </a:txBody>
                  <a:tcPr>
                    <a:solidFill>
                      <a:srgbClr val="0B0F12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« Reconditionné, c'est de l'occasion. 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Contrôlé sur plus de 50 points, certificat remis, garanti 6 mois.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Le certificat d'un appareil réel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« 6 mois, c'est court. »</a:t>
                      </a:r>
                    </a:p>
                  </a:txBody>
                  <a:tcPr>
                    <a:solidFill>
                      <a:srgbClr val="E6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C'est la garantie publiée ; ce qui compte, c'est ce qu'elle couvre et qui répond.</a:t>
                      </a:r>
                    </a:p>
                  </a:txBody>
                  <a:tcPr>
                    <a:solidFill>
                      <a:srgbClr val="E6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/garantie</a:t>
                      </a:r>
                    </a:p>
                  </a:txBody>
                  <a:tcPr>
                    <a:solidFill>
                      <a:srgbClr val="E6F8F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« Et si un consultant casse l'écran ? 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La casse n'est pas couverte. Nous le disons dès maintenant.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La liste des exclusions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« Un fournisseur informatique fait moins cher. »</a:t>
                      </a:r>
                    </a:p>
                  </a:txBody>
                  <a:tcPr>
                    <a:solidFill>
                      <a:srgbClr val="E6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Comparons à périmètre égal : contrôle, garantie, SAV à Abidjan.</a:t>
                      </a:r>
                    </a:p>
                  </a:txBody>
                  <a:tcPr>
                    <a:solidFill>
                      <a:srgbClr val="E6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Blog « Pourquoi l'iPhone à petit prix vous coûtera souvent plus cher »</a:t>
                      </a:r>
                    </a:p>
                  </a:txBody>
                  <a:tcPr>
                    <a:solidFill>
                      <a:srgbClr val="E6F8F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« Il nous faut une facture d'entreprise. 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Je vous confirme par écrit les mentions de facture.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Plus Jakarta Sans"/>
                        </a:rPr>
                        <a:t>⟦à confirmer par Revvo⟧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08000" y="6336000"/>
            <a:ext cx="34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6B4E00"/>
                </a:solidFill>
                <a:latin typeface="Plus Jakarta Sans"/>
              </a:rPr>
              <a:t>FICTIF : prospect, cas et quantités inventés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" y="6120000"/>
            <a:ext cx="72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55555"/>
                </a:solidFill>
                <a:latin typeface="Plus Jakarta Sans"/>
              </a:rPr>
              <a:t>Objections construites pour un acheteur d'entreprise : à remplacer par celles du premier rendez-vous.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0B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00D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000" y="324000"/>
            <a:ext cx="1329702" cy="50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432000"/>
            <a:ext cx="95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F12"/>
                </a:solidFill>
                <a:latin typeface="Plus Jakarta Sans"/>
              </a:rPr>
              <a:t>La prochaine étape, et la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440000"/>
            <a:ext cx="100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latin typeface="Plus Jakarta Sans"/>
              </a:rPr>
              <a:t>• </a:t>
            </a:r>
            <a:r>
              <a:rPr sz="1900" b="1">
                <a:latin typeface="Plus Jakarta Sans"/>
              </a:rPr>
              <a:t>Prochaine étape unique</a:t>
            </a:r>
            <a:r>
              <a:rPr sz="1900" b="0">
                <a:latin typeface="Plus Jakarta Sans"/>
              </a:rPr>
              <a:t> : un </a:t>
            </a:r>
            <a:r>
              <a:rPr sz="1900" b="1">
                <a:latin typeface="Plus Jakarta Sans"/>
              </a:rPr>
              <a:t>lot pilote de 3 appareils</a:t>
            </a:r>
            <a:r>
              <a:rPr sz="1900" b="0">
                <a:latin typeface="Plus Jakarta Sans"/>
              </a:rPr>
              <a:t> pour trois consultants, avec le certificat de chacun ; point à un mois sur leur retour [FICTIF, proposition à valider par Revvo].</a:t>
            </a:r>
          </a:p>
          <a:p>
            <a:pPr>
              <a:spcAft>
                <a:spcPts val="1200"/>
              </a:spcAft>
            </a:pPr>
            <a:r>
              <a:rPr sz="1900" b="0">
                <a:latin typeface="Plus Jakarta Sans"/>
              </a:rPr>
              <a:t>• </a:t>
            </a:r>
            <a:r>
              <a:rPr sz="1900" b="1">
                <a:latin typeface="Plus Jakarta Sans"/>
              </a:rPr>
              <a:t>Après la démo, le jour même</a:t>
            </a:r>
            <a:r>
              <a:rPr sz="1900" b="0">
                <a:latin typeface="Plus Jakarta Sans"/>
              </a:rPr>
              <a:t> : compte rendu écrit et mise à jour du suivi commercial.</a:t>
            </a:r>
          </a:p>
          <a:p>
            <a:pPr>
              <a:spcAft>
                <a:spcPts val="1200"/>
              </a:spcAft>
            </a:pPr>
            <a:r>
              <a:rPr sz="1900" b="0">
                <a:latin typeface="Plus Jakarta Sans"/>
              </a:rPr>
              <a:t>• </a:t>
            </a:r>
            <a:r>
              <a:rPr sz="1900" b="1">
                <a:latin typeface="Plus Jakarta Sans"/>
              </a:rPr>
              <a:t>Suite proposée (non lancée, sur accord de Revvo)</a:t>
            </a:r>
            <a:r>
              <a:rPr sz="1900" b="0">
                <a:latin typeface="Plus Jakarta Sans"/>
              </a:rPr>
              <a:t> : 1) un </a:t>
            </a:r>
            <a:r>
              <a:rPr sz="1900" b="1">
                <a:latin typeface="Plus Jakarta Sans"/>
              </a:rPr>
              <a:t>deck pour ses revendeurs</a:t>
            </a:r>
            <a:r>
              <a:rPr sz="1900" b="0">
                <a:latin typeface="Plus Jakarta Sans"/>
              </a:rPr>
              <a:t> (boutiques et vendeurs qui orienteraient des acheteurs vers Revvo, une fois écrit qui porte la garantie d'un appareil revendu) ; 2) une </a:t>
            </a:r>
            <a:r>
              <a:rPr sz="1900" b="1">
                <a:latin typeface="Plus Jakarta Sans"/>
              </a:rPr>
              <a:t>application des commerciaux</a:t>
            </a:r>
            <a:r>
              <a:rPr sz="1900" b="0">
                <a:latin typeface="Plus Jakarta Sans"/>
              </a:rPr>
              <a:t> : fiche du compte, vérification IMEI et prix du jour sur téléphone, compte rendu de visite.</a:t>
            </a:r>
          </a:p>
          <a:p>
            <a:pPr>
              <a:spcAft>
                <a:spcPts val="1200"/>
              </a:spcAft>
            </a:pPr>
            <a:r>
              <a:rPr sz="1900" b="0">
                <a:latin typeface="Plus Jakarta Sans"/>
              </a:rPr>
              <a:t>• </a:t>
            </a:r>
            <a:r>
              <a:rPr sz="1900" b="1">
                <a:latin typeface="Plus Jakarta Sans"/>
              </a:rPr>
              <a:t>Rien n'a été envoyé ni publié</a:t>
            </a:r>
            <a:r>
              <a:rPr sz="1900" b="0">
                <a:latin typeface="Plus Jakarta Sans"/>
              </a:rPr>
              <a:t> auprès d'un prospect : la démonstration est préparée, pas jouée.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08000" y="6336000"/>
            <a:ext cx="34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6B4E00"/>
                </a:solidFill>
                <a:latin typeface="Plus Jakarta Sans"/>
              </a:rPr>
              <a:t>FICTIF : prospect, cas et quantités inventés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0B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8000" y="0"/>
            <a:ext cx="72000" cy="6858000"/>
          </a:xfrm>
          <a:prstGeom prst="rect">
            <a:avLst/>
          </a:prstGeom>
          <a:solidFill>
            <a:srgbClr val="00D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000" y="324000"/>
            <a:ext cx="1329702" cy="50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000" y="432000"/>
            <a:ext cx="95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F12"/>
                </a:solidFill>
                <a:latin typeface="Plus Jakarta Sans"/>
              </a:rPr>
              <a:t>D'où vient chaque élément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440000"/>
            <a:ext cx="100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latin typeface="Plus Jakarta Sans"/>
              </a:rPr>
              <a:t>• </a:t>
            </a:r>
            <a:r>
              <a:rPr sz="1900" b="1">
                <a:latin typeface="Plus Jakarta Sans"/>
              </a:rPr>
              <a:t>Faits sur Revvo</a:t>
            </a:r>
            <a:r>
              <a:rPr sz="1900" b="0">
                <a:latin typeface="Plus Jakarta Sans"/>
              </a:rPr>
              <a:t> : revvo.africa (accueil, /garantie, /a-propos, /verifier-mon-telephone, /points-de-vente, /blog, fiche iPhone 13), lus le 15/10/2026.</a:t>
            </a:r>
          </a:p>
          <a:p>
            <a:pPr>
              <a:spcAft>
                <a:spcPts val="1200"/>
              </a:spcAft>
            </a:pPr>
            <a:r>
              <a:rPr sz="1900" b="0">
                <a:latin typeface="Plus Jakarta Sans"/>
              </a:rPr>
              <a:t>• </a:t>
            </a:r>
            <a:r>
              <a:rPr sz="1900" b="1">
                <a:latin typeface="Plus Jakarta Sans"/>
              </a:rPr>
              <a:t>Prix</a:t>
            </a:r>
            <a:r>
              <a:rPr sz="1900" b="0">
                <a:latin typeface="Plus Jakarta Sans"/>
              </a:rPr>
              <a:t> : prix publics « à partir de » du 15/10/2026 ; ils changent avec les promotions et le stock.</a:t>
            </a:r>
          </a:p>
          <a:p>
            <a:pPr>
              <a:spcAft>
                <a:spcPts val="1200"/>
              </a:spcAft>
            </a:pPr>
            <a:r>
              <a:rPr sz="1900" b="0">
                <a:latin typeface="Plus Jakarta Sans"/>
              </a:rPr>
              <a:t>• </a:t>
            </a:r>
            <a:r>
              <a:rPr sz="1900" b="1">
                <a:latin typeface="Plus Jakarta Sans"/>
              </a:rPr>
              <a:t>Prospect, ses trois situations, postes, quantités, objections</a:t>
            </a:r>
            <a:r>
              <a:rPr sz="1900" b="0">
                <a:latin typeface="Plus Jakarta Sans"/>
              </a:rPr>
              <a:t> : FICTIFS, construits pour l'entraînement.</a:t>
            </a:r>
          </a:p>
          <a:p>
            <a:pPr>
              <a:spcAft>
                <a:spcPts val="1200"/>
              </a:spcAft>
            </a:pPr>
            <a:r>
              <a:rPr sz="1900" b="0">
                <a:latin typeface="Plus Jakarta Sans"/>
              </a:rPr>
              <a:t>• </a:t>
            </a:r>
            <a:r>
              <a:rPr sz="1900" b="1">
                <a:latin typeface="Plus Jakarta Sans"/>
              </a:rPr>
              <a:t>À confirmer par Revvo</a:t>
            </a:r>
            <a:r>
              <a:rPr sz="1900" b="0">
                <a:latin typeface="Plus Jakarta Sans"/>
              </a:rPr>
              <a:t> : délai de prise en charge, point de départ des 6 mois, conditions pour une entreprise (facture, lot, Flex).</a:t>
            </a:r>
          </a:p>
          <a:p>
            <a:pPr>
              <a:spcAft>
                <a:spcPts val="1200"/>
              </a:spcAft>
            </a:pPr>
            <a:r>
              <a:rPr sz="1900" b="0">
                <a:latin typeface="Plus Jakarta Sans"/>
              </a:rPr>
              <a:t>• </a:t>
            </a:r>
            <a:r>
              <a:rPr sz="1900" b="1">
                <a:latin typeface="Plus Jakarta Sans"/>
              </a:rPr>
              <a:t>Charte</a:t>
            </a:r>
            <a:r>
              <a:rPr sz="1900" b="0">
                <a:latin typeface="Plus Jakarta Sans"/>
              </a:rPr>
              <a:t> : logo, noir #0b0f12, turquoise #00d5be et police Plus Jakarta Sans relevés sur revvo.africa ; DM Sans (texte du site) remplacée par Plus Jakarta Sans.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