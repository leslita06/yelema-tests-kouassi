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11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Valeur habituelle par mois = panier moyen × 30 / jours entre deux commandes. Ce n'est pas un chiffre à récupérer à coup sûr, c'est ce que ces clients achetaient.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même message à tout le monde rate les meilleurs comptes et agace ceux qui ont eu un problème.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 = au moins 1,5 M FCFA par mois habituellement, ou incident sur un compte d'au moins 500 000 FCFA par mois.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Arrêt immédiat sur « non » ou « STOP ». Un client parti chez un concurrent se rappelle dans 60 jours, pas avant.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30 premiers messages sont déjà rédigés, client par client, dans le tableau de suivi. Aucun ne part sans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Raisons supposées à partir de l'historique (fictif). L'appel du jour 3 sert à les confirmer avec les mots du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condition accordée à un client pour revenir ne se cite jamais à un 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C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00" y="648000"/>
            <a:ext cx="1740000" cy="756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64000" y="2088000"/>
            <a:ext cx="792000" cy="28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Quicksand"/>
              </a:rPr>
              <a:t>FICTIF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000" y="2520000"/>
            <a:ext cx="97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Quicksand"/>
              </a:rPr>
              <a:t>Faire revenir les clients qui ne commandent plus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FFD9CC"/>
                </a:solidFill>
                <a:latin typeface="Quicksand"/>
              </a:rPr>
              <a:t>Clients sans commande de produits frais depuis plus de 30 jours : tri, relance, offre, suivi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000" y="6120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7DF"/>
                </a:solidFill>
                <a:latin typeface="Quicksand"/>
              </a:rPr>
              <a:t>Proposition de méthode · 21 octobre 2026 · illustrée sur un jeu de données FICTIF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25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0" y="360000"/>
            <a:ext cx="994286" cy="4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396000"/>
            <a:ext cx="88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55C40"/>
                </a:solidFill>
                <a:latin typeface="Quicksand"/>
              </a:rPr>
              <a:t>30 clients silencieux, près de 32 M FCFA par mois en jeu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368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D5A49"/>
                </a:solidFill>
                <a:latin typeface="Quicksand"/>
              </a:rPr>
              <a:t>Situation au 21/10/2026 sur le jeu fictif : clients qui commandaient régulièrement et n'ont rien commandé depuis plus de 30 jours.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000" y="2232000"/>
            <a:ext cx="2484000" cy="21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4000" y="2232000"/>
            <a:ext cx="2484000" cy="90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4000" y="2520000"/>
            <a:ext cx="2124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5C40"/>
                </a:solidFill>
                <a:latin typeface="Quicksand"/>
              </a:rPr>
              <a:t>30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D5A49"/>
                </a:solidFill>
                <a:latin typeface="Quicksand"/>
              </a:rPr>
              <a:t>clients sans commande depuis plus de 30 jours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4000" y="2232000"/>
            <a:ext cx="2484000" cy="21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4000" y="2232000"/>
            <a:ext cx="2484000" cy="90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4000" y="2520000"/>
            <a:ext cx="2124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5C40"/>
                </a:solidFill>
                <a:latin typeface="Quicksand"/>
              </a:rPr>
              <a:t>31,8 M FCFA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D5A49"/>
                </a:solidFill>
                <a:latin typeface="Quicksand"/>
              </a:rPr>
              <a:t>ce qu'ils achetaient par mois en rythme normal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4000" y="2232000"/>
            <a:ext cx="2484000" cy="21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4000" y="2232000"/>
            <a:ext cx="2484000" cy="90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4000" y="2520000"/>
            <a:ext cx="2124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5C40"/>
                </a:solidFill>
                <a:latin typeface="Quicksand"/>
              </a:rPr>
              <a:t>8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D5A49"/>
                </a:solidFill>
                <a:latin typeface="Quicksand"/>
              </a:rPr>
              <a:t>comptes P1 qui pèsent 52 % de cette valeur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4000" y="2232000"/>
            <a:ext cx="2484000" cy="21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4000" y="2232000"/>
            <a:ext cx="2484000" cy="90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520000"/>
            <a:ext cx="2124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5C40"/>
                </a:solidFill>
                <a:latin typeface="Quicksand"/>
              </a:rPr>
              <a:t>19 sur 30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D5A49"/>
                </a:solidFill>
                <a:latin typeface="Quicksand"/>
              </a:rPr>
              <a:t>commandaient au moins une fois par semaine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000" y="5868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3D5A49"/>
                </a:solidFill>
                <a:latin typeface="Quicksand"/>
              </a:rPr>
              <a:t>Valeur habituelle par mois = panier moyen × 30 / jours entre deux commandes. Ce n'est pas un chiffre à récupérer à coup sûr, c'est ce que ces clients achetaient.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000" y="6408000"/>
            <a:ext cx="104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4A33"/>
                </a:solidFill>
                <a:latin typeface="Quicksand"/>
              </a:rPr>
              <a:t>FICTIF : clients, montants et dates inventés pour illustrer la méthode, aucun chiffre réel de Djoli ·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25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0" y="360000"/>
            <a:ext cx="994286" cy="4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396000"/>
            <a:ext cx="88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55C40"/>
                </a:solidFill>
                <a:latin typeface="Quicksand"/>
              </a:rPr>
              <a:t>Trier avant de relancer : cinq groupes, cinq façons de faire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368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D5A49"/>
                </a:solidFill>
                <a:latin typeface="Quicksand"/>
              </a:rPr>
              <a:t>Un même message à tout le monde rate les meilleurs comptes et agace ceux qui ont eu un problème.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4000" y="1872000"/>
          <a:ext cx="10439998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4842"/>
                <a:gridCol w="2271157"/>
                <a:gridCol w="805894"/>
                <a:gridCol w="1465263"/>
                <a:gridCol w="3992842"/>
              </a:tblGrid>
              <a:tr h="324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Quicksand"/>
                        </a:rPr>
                        <a:t>Groupe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Quicksand"/>
                        </a:rPr>
                        <a:t>Critère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Quicksand"/>
                        </a:rPr>
                        <a:t>Clients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Quicksand"/>
                        </a:rPr>
                        <a:t>Valeur / mois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Quicksand"/>
                        </a:rPr>
                        <a:t>Ce qu'on fait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Décroché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Silence ≥ 3 fois son rythme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20,9 M FCFA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Relance prioritaire : question ouverte, puis appel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Incident non soldé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Réclamation dans les 15 j avant l'arrêt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5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7,3 M FCFA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Régler l'incident d'abord, offre ensuite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Impayé en cours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Encours dû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1,7 M FCFA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Recouvrement d'abord, aucune relance commerciale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Rythme lent / occasionnel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Commande tous les 14 j ou plus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2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747 000 FCFA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Message léger, préparer leur prochain besoin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Perdu probable (&gt; 90 j)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Plus de 90 j sans commande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1,2 M FCFA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Comprendre pourquoi, porte ouverte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4000" y="6408000"/>
            <a:ext cx="104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4A33"/>
                </a:solidFill>
                <a:latin typeface="Quicksand"/>
              </a:rPr>
              <a:t>FICTIF : clients, montants et dates inventés pour illustrer la méthode, aucun chiffre réel de Djoli ·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25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0" y="360000"/>
            <a:ext cx="994286" cy="4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396000"/>
            <a:ext cx="88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55C40"/>
                </a:solidFill>
                <a:latin typeface="Quicksand"/>
              </a:rPr>
              <a:t>Les 8 comptes P1 : visite ou appel du responsable sous 48 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368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D5A49"/>
                </a:solidFill>
                <a:latin typeface="Quicksand"/>
              </a:rPr>
              <a:t>P1 = au moins 1,5 M FCFA par mois habituellement, ou incident sur un compte d'au moins 500 000 FCFA par mois.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4000" y="1872000"/>
          <a:ext cx="10439998" cy="29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263"/>
                <a:gridCol w="1685052"/>
                <a:gridCol w="1685052"/>
                <a:gridCol w="1465263"/>
                <a:gridCol w="2747368"/>
              </a:tblGrid>
              <a:tr h="32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Quicksand"/>
                        </a:rPr>
                        <a:t>Établissement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Quicksand"/>
                        </a:rPr>
                        <a:t>Commune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Quicksand"/>
                        </a:rPr>
                        <a:t>Sans commande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Quicksand"/>
                        </a:rPr>
                        <a:t>Valeur / mois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Quicksand"/>
                        </a:rPr>
                        <a:t>Raison supposée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Hôtel Ivoire Palm (cuisine)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Port-Bouët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34 j (rythme 3 j)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5,2 M FCFA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Retour au marché ou autre fournisseur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Hôtel Lagune Bleue (restaurant)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Marcory Zone 4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38 j (rythme 4 j)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3,1 M FCFA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Qualité / fraîcheur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Le Grill du Plateau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Plateau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33 j (rythme 3 j)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2,3 M FCFA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Nouvel acheteur en cuisine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Résidence Les Flamboyants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Cocody Riviera 3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52 j (rythme 4 j)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2,2 M FCFA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Livraison en retard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Le Patio d'Angré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Cocody Angré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44 j (rythme 3 j)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1,9 M FCFA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Retour au marché ou autre fournisseur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Fast Food Mixte 225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Cocody II Plateaux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36 j (rythme 4 j)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735 000 FCFA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Qualité / fraîcheur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Restaurant Chez Fanta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Adjamé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37 j (rythme 4 j)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660 000 FCFA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Erreur de commande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Cafétéria Clinique Les Lauriers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Cocody Danga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46 j (rythme 7 j)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579 000 FCFA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Livraison incomplète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4000" y="6408000"/>
            <a:ext cx="104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4A33"/>
                </a:solidFill>
                <a:latin typeface="Quicksand"/>
              </a:rPr>
              <a:t>FICTIF : clients, montants et dates inventés pour illustrer la méthode, aucun chiffre réel de Djoli ·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25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0" y="360000"/>
            <a:ext cx="994286" cy="4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396000"/>
            <a:ext cx="88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55C40"/>
                </a:solidFill>
                <a:latin typeface="Quicksand"/>
              </a:rPr>
              <a:t>Une séquence courte : quatre contacts en quinze jours, puis on s'arrête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4000" y="1728000"/>
            <a:ext cx="2484000" cy="3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44000" y="1908000"/>
            <a:ext cx="936000" cy="288000"/>
          </a:xfrm>
          <a:prstGeom prst="round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Quicksand"/>
              </a:rPr>
              <a:t>Jour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" y="2304000"/>
            <a:ext cx="2124000" cy="27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5C40"/>
                </a:solidFill>
                <a:latin typeface="Quicksand"/>
              </a:rPr>
              <a:t>WhatsApp du commercial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2A1C"/>
                </a:solidFill>
                <a:latin typeface="Quicksand"/>
              </a:rPr>
              <a:t>Prendre des nouvelles, une question ouverte. Jamais d'envoi groupé.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8000" y="1728000"/>
            <a:ext cx="2484000" cy="3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08000" y="1908000"/>
            <a:ext cx="936000" cy="288000"/>
          </a:xfrm>
          <a:prstGeom prst="round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Quicksand"/>
              </a:rPr>
              <a:t>Jour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8000" y="2304000"/>
            <a:ext cx="2124000" cy="27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5C40"/>
                </a:solidFill>
                <a:latin typeface="Quicksand"/>
              </a:rPr>
              <a:t>Appel (visite pour P1)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2A1C"/>
                </a:solidFill>
                <a:latin typeface="Quicksand"/>
              </a:rPr>
              <a:t>Comprendre ce qui a changé : fournisseur actuel, raison, ce qui ferait revenir.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2000" y="1728000"/>
            <a:ext cx="2484000" cy="3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000" y="1908000"/>
            <a:ext cx="936000" cy="288000"/>
          </a:xfrm>
          <a:prstGeom prst="round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Quicksand"/>
              </a:rPr>
              <a:t>Jour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2000" y="2304000"/>
            <a:ext cx="2124000" cy="27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5C40"/>
                </a:solidFill>
                <a:latin typeface="Quicksand"/>
              </a:rPr>
              <a:t>WhatsApp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2A1C"/>
                </a:solidFill>
                <a:latin typeface="Quicksand"/>
              </a:rPr>
              <a:t>Une réponse à SA raison : comparaison de prix sur son panier, preuve que le problème est réglé, commande test.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56000" y="1728000"/>
            <a:ext cx="2484000" cy="3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36000" y="1908000"/>
            <a:ext cx="936000" cy="288000"/>
          </a:xfrm>
          <a:prstGeom prst="round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Quicksand"/>
              </a:rPr>
              <a:t>Jour 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6000" y="2304000"/>
            <a:ext cx="2124000" cy="27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5C40"/>
                </a:solidFill>
                <a:latin typeface="Quicksand"/>
              </a:rPr>
              <a:t>WhatsApp ou appel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2A1C"/>
                </a:solidFill>
                <a:latin typeface="Quicksand"/>
              </a:rPr>
              <a:t>L'offre de retour validée par la direction, avec une date de fin. Sinon : merci, porte ouverte.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000" y="5868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3D5A49"/>
                </a:solidFill>
                <a:latin typeface="Quicksand"/>
              </a:rPr>
              <a:t>Arrêt immédiat sur « non » ou « STOP ». Un client parti chez un concurrent se rappelle dans 60 jours, pas avant.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000" y="6408000"/>
            <a:ext cx="104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4A33"/>
                </a:solidFill>
                <a:latin typeface="Quicksand"/>
              </a:rPr>
              <a:t>FICTIF : clients, montants et dates inventés pour illustrer la méthode, aucun chiffre réel de Djoli ·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25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0" y="360000"/>
            <a:ext cx="994286" cy="4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396000"/>
            <a:ext cx="88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55C40"/>
                </a:solidFill>
                <a:latin typeface="Quicksand"/>
              </a:rPr>
              <a:t>Le premier message pose une question, il ne vend rien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65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5C40"/>
                </a:solidFill>
                <a:latin typeface="Quicksand"/>
              </a:rPr>
              <a:t>Client décroché (exemple fictif)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4000" y="2016000"/>
            <a:ext cx="5040000" cy="2520000"/>
          </a:xfrm>
          <a:prstGeom prst="roundRect">
            <a:avLst/>
          </a:prstGeom>
          <a:solidFill>
            <a:srgbClr val="DCF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" y="2160000"/>
            <a:ext cx="4608000" cy="22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0F2A1C"/>
                </a:solidFill>
                <a:latin typeface="Quicksand"/>
              </a:rPr>
              <a:t>Bonjour M. Kra, c'est Aïcha de Djoli. Ça fait 4 semaines qu'on ne vous a pas livré à l'Hôtel Ivoire Palm, je voulais simplement prendre de vos nouvelles. Est-ce que quelque chose ne vous a pas convenu de notre côté ? Même deux mots m'aident vraiment.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2000" y="165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5C40"/>
                </a:solidFill>
                <a:latin typeface="Quicksand"/>
              </a:rPr>
              <a:t>Client avec incident (exemple fictif)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2000" y="2016000"/>
            <a:ext cx="5040000" cy="2520000"/>
          </a:xfrm>
          <a:prstGeom prst="roundRect">
            <a:avLst/>
          </a:prstGeom>
          <a:solidFill>
            <a:srgbClr val="DCF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8000" y="2160000"/>
            <a:ext cx="4608000" cy="22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0F2A1C"/>
                </a:solidFill>
                <a:latin typeface="Quicksand"/>
              </a:rPr>
              <a:t>Bonjour Mme Bamba, c'est Aïcha de Djoli. Je reviens vers vous au sujet de la livraison du 07/09 (tomates abîmées à la livraison). Je voulais savoir si cela a été réglé correctement pour vous, et sinon le reprendre avec vous. Est-ce que je peux vous appeler cinq minutes cette semaine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000" y="5868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3D5A49"/>
                </a:solidFill>
                <a:latin typeface="Quicksand"/>
              </a:rPr>
              <a:t>Les 30 premiers messages sont déjà rédigés, client par client, dans le tableau de suivi. Aucun ne part sans validation.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000" y="6408000"/>
            <a:ext cx="104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4A33"/>
                </a:solidFill>
                <a:latin typeface="Quicksand"/>
              </a:rPr>
              <a:t>FICTIF : clients, montants et dates inventés pour illustrer la méthode, aucun chiffre réel de Djoli ·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25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0" y="360000"/>
            <a:ext cx="994286" cy="4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396000"/>
            <a:ext cx="88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55C40"/>
                </a:solidFill>
                <a:latin typeface="Quicksand"/>
              </a:rPr>
              <a:t>Chaque raison de départ appelle sa réponse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368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D5A49"/>
                </a:solidFill>
                <a:latin typeface="Quicksand"/>
              </a:rPr>
              <a:t>Raisons supposées à partir de l'historique (fictif). L'appel du jour 3 sert à les confirmer avec les mots du client.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4000" y="1872000"/>
          <a:ext cx="104399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4210"/>
                <a:gridCol w="915789"/>
                <a:gridCol w="6960000"/>
              </a:tblGrid>
              <a:tr h="324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Quicksand"/>
                        </a:rPr>
                        <a:t>Raison supposée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Quicksand"/>
                        </a:rPr>
                        <a:t>Clients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Quicksand"/>
                        </a:rPr>
                        <a:t>Réponse au jour 7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Concurrence / marché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Commande test sur ses produits habituels, livrée avant le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Prix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6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Prix du jour de son panier habituel, comparé au coût réel du marché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Activité du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Noter la date de reprise, recontacter une semaine avant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Service (livraison, erreur)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4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Montrer ce qui a été corrigé, créneau de livraison fixe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Qualité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Montrer ce qui a changé, être présent à la réception suivante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Changement d'interlocuteur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2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Présenter Djoli au nouvel acheteur, échantillon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Paiement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Recouvrement d'abord, pas de relance commerciale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4000" y="6408000"/>
            <a:ext cx="104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4A33"/>
                </a:solidFill>
                <a:latin typeface="Quicksand"/>
              </a:rPr>
              <a:t>FICTIF : clients, montants et dates inventés pour illustrer la méthode, aucun chiffre réel de Djoli ·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25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0" y="360000"/>
            <a:ext cx="994286" cy="4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396000"/>
            <a:ext cx="88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55C40"/>
                </a:solidFill>
                <a:latin typeface="Quicksand"/>
              </a:rPr>
              <a:t>Ce que la direction de Djoli doit décider avant le départ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512000"/>
            <a:ext cx="1044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1">
                <a:solidFill>
                  <a:srgbClr val="0F2A1C"/>
                </a:solidFill>
                <a:latin typeface="Quicksand"/>
              </a:rPr>
              <a:t>L'offre de retour</a:t>
            </a:r>
            <a:r>
              <a:rPr sz="1700" b="0">
                <a:solidFill>
                  <a:srgbClr val="0F2A1C"/>
                </a:solidFill>
                <a:latin typeface="Quicksand"/>
              </a:rPr>
              <a:t> : remise sur la première commande, livraison offerte, prix bloqué quelques semaines… Montant, plafond et date de fin ⟦à décider⟧.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1">
                <a:solidFill>
                  <a:srgbClr val="0F2A1C"/>
                </a:solidFill>
                <a:latin typeface="Quicksand"/>
              </a:rPr>
              <a:t>Qui valide les messages</a:t>
            </a:r>
            <a:r>
              <a:rPr sz="1700" b="0">
                <a:solidFill>
                  <a:srgbClr val="0F2A1C"/>
                </a:solidFill>
                <a:latin typeface="Quicksand"/>
              </a:rPr>
              <a:t> avant envoi, et en combien de temps.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1">
                <a:solidFill>
                  <a:srgbClr val="0F2A1C"/>
                </a:solidFill>
                <a:latin typeface="Quicksand"/>
              </a:rPr>
              <a:t>Qui fait les visites P1</a:t>
            </a:r>
            <a:r>
              <a:rPr sz="1700" b="0">
                <a:solidFill>
                  <a:srgbClr val="0F2A1C"/>
                </a:solidFill>
                <a:latin typeface="Quicksand"/>
              </a:rPr>
              <a:t> : le responsable commercial ou le commercial du compte.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1">
                <a:solidFill>
                  <a:srgbClr val="0F2A1C"/>
                </a:solidFill>
                <a:latin typeface="Quicksand"/>
              </a:rPr>
              <a:t>Les impayés</a:t>
            </a:r>
            <a:r>
              <a:rPr sz="1700" b="0">
                <a:solidFill>
                  <a:srgbClr val="0F2A1C"/>
                </a:solidFill>
                <a:latin typeface="Quicksand"/>
              </a:rPr>
              <a:t> : la relance attend le règlement de l'encours (195 000 FCFA sur deux clients dans le jeu fictif).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1">
                <a:solidFill>
                  <a:srgbClr val="0F2A1C"/>
                </a:solidFill>
                <a:latin typeface="Quicksand"/>
              </a:rPr>
              <a:t>L'objectif</a:t>
            </a:r>
            <a:r>
              <a:rPr sz="1700" b="0">
                <a:solidFill>
                  <a:srgbClr val="0F2A1C"/>
                </a:solidFill>
                <a:latin typeface="Quicksand"/>
              </a:rPr>
              <a:t> de la campagne : taux de retour visé à 30 jours ⟦à fixer⟧.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5868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3D5A49"/>
                </a:solidFill>
                <a:latin typeface="Quicksand"/>
              </a:rPr>
              <a:t>Une condition accordée à un client pour revenir ne se cite jamais à un autre.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6408000"/>
            <a:ext cx="104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4A33"/>
                </a:solidFill>
                <a:latin typeface="Quicksand"/>
              </a:rPr>
              <a:t>FICTIF : clients, montants et dates inventés pour illustrer la méthode, aucun chiffre réel de Djoli ·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25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0" y="360000"/>
            <a:ext cx="994286" cy="4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396000"/>
            <a:ext cx="88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55C40"/>
                </a:solidFill>
                <a:latin typeface="Quicksand"/>
              </a:rPr>
              <a:t>Mesurer, puis éviter que ça recommence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512000"/>
            <a:ext cx="1044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1">
                <a:solidFill>
                  <a:srgbClr val="0F2A1C"/>
                </a:solidFill>
                <a:latin typeface="Quicksand"/>
              </a:rPr>
              <a:t>Chaque semaine</a:t>
            </a:r>
            <a:r>
              <a:rPr sz="1700" b="0">
                <a:solidFill>
                  <a:srgbClr val="0F2A1C"/>
                </a:solidFill>
                <a:latin typeface="Quicksand"/>
              </a:rPr>
              <a:t> : taux de réponse, taux de retour à 14 jours, montant des premières commandes retour. Le tableau de suivi les calcule seul.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1">
                <a:solidFill>
                  <a:srgbClr val="0F2A1C"/>
                </a:solidFill>
                <a:latin typeface="Quicksand"/>
              </a:rPr>
              <a:t>Les raisons dans les mots du client.</a:t>
            </a:r>
            <a:r>
              <a:rPr sz="1700" b="0">
                <a:solidFill>
                  <a:srgbClr val="0F2A1C"/>
                </a:solidFill>
                <a:latin typeface="Quicksand"/>
              </a:rPr>
              <a:t> Si la même revient chez plus d'un client sur cinq, c'est un sujet d'offre ou de logistique : la relance ne le réglera pas.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1">
                <a:solidFill>
                  <a:srgbClr val="0F2A1C"/>
                </a:solidFill>
                <a:latin typeface="Quicksand"/>
              </a:rPr>
              <a:t>Une alerte précoce</a:t>
            </a:r>
            <a:r>
              <a:rPr sz="1700" b="0">
                <a:solidFill>
                  <a:srgbClr val="0F2A1C"/>
                </a:solidFill>
                <a:latin typeface="Quicksand"/>
              </a:rPr>
              <a:t> : un client qui dépasse une fois et demie son rythme habituel est signalé tout de suite. On le récupère à une semaine de silence, pas à un mois.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1">
                <a:solidFill>
                  <a:srgbClr val="0F2A1C"/>
                </a:solidFill>
                <a:latin typeface="Quicksand"/>
              </a:rPr>
              <a:t>Un appel après chaque réclamation</a:t>
            </a:r>
            <a:r>
              <a:rPr sz="1700" b="0">
                <a:solidFill>
                  <a:srgbClr val="0F2A1C"/>
                </a:solidFill>
                <a:latin typeface="Quicksand"/>
              </a:rPr>
              <a:t> : cinq des trente clients fictifs ont arrêté juste après un incident.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6408000"/>
            <a:ext cx="104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4A33"/>
                </a:solidFill>
                <a:latin typeface="Quicksand"/>
              </a:rPr>
              <a:t>FICTIF : clients, montants et dates inventés pour illustrer la méthode, aucun chiffre réel de Djoli ·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25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0" y="360000"/>
            <a:ext cx="994286" cy="4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396000"/>
            <a:ext cx="88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55C40"/>
                </a:solidFill>
                <a:latin typeface="Quicksand"/>
              </a:rPr>
              <a:t>Pour passer du fictif au réel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512000"/>
            <a:ext cx="1044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0">
                <a:solidFill>
                  <a:srgbClr val="0F2A1C"/>
                </a:solidFill>
                <a:latin typeface="Quicksand"/>
              </a:rPr>
              <a:t>L'export des clients Djoli : contact, dernière commande, nombre de commandes sur 3 mois, panier moyen, réclamations, encours.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0">
                <a:solidFill>
                  <a:srgbClr val="0F2A1C"/>
                </a:solidFill>
                <a:latin typeface="Quicksand"/>
              </a:rPr>
              <a:t>La décision sur l'offre de retour et sur qui valide les messages.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0">
                <a:solidFill>
                  <a:srgbClr val="0F2A1C"/>
                </a:solidFill>
                <a:latin typeface="Quicksand"/>
              </a:rPr>
              <a:t>Avec ces deux éléments, le tri et les 30 messages personnalisés sont prêts dans la journée.</a:t>
            </a:r>
          </a:p>
          <a:p>
            <a:r>
              <a:rPr sz="1500" b="1">
                <a:solidFill>
                  <a:srgbClr val="255C40"/>
                </a:solidFill>
                <a:latin typeface="Quicksand"/>
              </a:rPr>
              <a:t>Kouassi · Commercial et ventes · Mstudio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6408000"/>
            <a:ext cx="104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4A33"/>
                </a:solidFill>
                <a:latin typeface="Quicksand"/>
              </a:rPr>
              <a:t>FICTIF : clients, montants et dates inventés pour illustrer la méthode, aucun chiffre réel de Djoli ·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