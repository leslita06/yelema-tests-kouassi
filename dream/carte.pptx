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4000" y="288000"/>
            <a:ext cx="1504533" cy="46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000" y="251999"/>
            <a:ext cx="9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E172A"/>
                </a:solidFill>
                <a:latin typeface="Work Sans"/>
              </a:rPr>
              <a:t>Côte d'Ivoire : où Dream se vend, où il manque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37999"/>
            <a:ext cx="11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5F64"/>
                </a:solidFill>
                <a:latin typeface="Work Sans"/>
              </a:rPr>
              <a:t>Par canal : la présence de Dream prouvée en ligne, ses absences, et la place prise par Gandour, SIVOP et Kaera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6516000"/>
            <a:ext cx="11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F5F64"/>
                </a:solidFill>
                <a:latin typeface="Work Sans"/>
              </a:rPr>
              <a:t>Dream Cosmetics · Carte de la distribution · relevé du 28/10/2026 · 1/3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" y="1152000"/>
          <a:ext cx="11303997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999"/>
                <a:gridCol w="3311999"/>
                <a:gridCol w="3671999"/>
                <a:gridCol w="2664000"/>
              </a:tblGrid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Canal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Dream aujourd'hui (preuve)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Les concurrents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À démarcher en priorité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Supermarchés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prouvée : aucune liste de points de vente publiée par Dream, aucune fiche Dream sur les sites des enseignes.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SIVOP publie 145 points de vente : Bon Prix (44), Cash Center (35), Sococé, City Dia, King Cash, Casino, Hayat, Carrefour.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Prosuma, CFAO (Carrefour), CDCI, Ivoire Center, King Cash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Pharmacies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prouvée en ligne.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SIVOP passe par Copharmed (grossiste répartiteur).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Copharmed, UbiPharm, DPCI, Tedis Pharma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Parfumeries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prouvée en ligne.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Gandour : parfums Duchesse, Infini Ciel, Monark, vendus en ligne.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Beauty Success, Fabellashop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Grossistes des marchés (Adjamé, Treichville)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prouvée en ligne : relevé terrain nécessaire.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Kaera publie ses grossistes dans 31 villes de l'intérieur ; SIVOP dans 22 villes.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Tournée terrain prévue en semaine 2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Boutiques de quartier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prouvée en ligne.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Desservies par les grossistes des marchés.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Via les grossistes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Vente en ligne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Prouvée : Day by Day et Babymed sur Jumia Côte d'Ivoire (revendeurs) ; Babi Bazar, UDB.ci.</a:t>
                      </a:r>
                    </a:p>
                  </a:txBody>
                  <a:tcPr marT="21600" marB="21600" anchor="t">
                    <a:solidFill>
                      <a:srgbClr val="DDF1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Gandour (80 produits) et SIVOP ont une boutique officielle Jumia.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Boutique officielle Jumia Dream ; Glovo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2000" y="5868000"/>
            <a:ext cx="1130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F64"/>
                </a:solidFill>
                <a:latin typeface="Work Sans"/>
              </a:rPr>
              <a:t>Lecture : vert = présence prouvée par une page publique ; rose = aucune preuve publique, ce qui ne veut pas dire absent. Les supermarchés, pharmacies et grossistes demandent un relevé en magasin avant la démo client.</a:t>
            </a:r>
          </a:p>
          <a:p>
            <a:pPr algn="l"/>
            <a:r>
              <a:rPr sz="800" b="0">
                <a:solidFill>
                  <a:srgbClr val="5F5F64"/>
                </a:solidFill>
                <a:latin typeface="Work Sans"/>
              </a:rPr>
              <a:t>Sources : jumia.ci/babymed · jumia.ci/day-by-day · babibazar.com · udb.ci · sivop.com/points-de-vente.php · kaeracosmetic.com/points_de_vente · jumia.ci/gandour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4000" y="288000"/>
            <a:ext cx="1504533" cy="46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000" y="251999"/>
            <a:ext cx="9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E172A"/>
                </a:solidFill>
                <a:latin typeface="Work Sans"/>
              </a:rPr>
              <a:t>La sous-région : un pays prouvé, six à ouvrir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37999"/>
            <a:ext cx="11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5F64"/>
                </a:solidFill>
                <a:latin typeface="Work Sans"/>
              </a:rPr>
              <a:t>Sénégal, Burkina Faso, Mali, Togo, Bénin, Guinée : la présence de Dream et des concurrents, et la porte d'entrée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6516000"/>
            <a:ext cx="11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F5F64"/>
                </a:solidFill>
                <a:latin typeface="Work Sans"/>
              </a:rPr>
              <a:t>Dream Cosmetics · Carte de la distribution · relevé du 28/10/2026 · 2/3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" y="1152000"/>
          <a:ext cx="11303999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/>
                <a:gridCol w="3960000"/>
                <a:gridCol w="3096000"/>
                <a:gridCol w="2951999"/>
              </a:tblGrid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Pays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Dream aujourd'hui (preuve)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Les concurrents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Porte d'entrée (voir la liste)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Sénégal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Prouvée : boutique officielle Dream sur Jumia Sénégal (Day by Day, Babymed, Clairmen, Dreamy) ; Day by Day Men cité parmi les produits favoris (Sagaci Research).</a:t>
                      </a:r>
                    </a:p>
                  </a:txBody>
                  <a:tcPr marT="21600" marB="21600" anchor="t">
                    <a:solidFill>
                      <a:srgbClr val="DDF1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Gandour : filiale à Dakar. Kaera : 2 produits sur Jumia, aucun point de vente publié.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Auchan, groupe EDK (Carrefour Market), Casino, Laborex, Duopharm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Burkina Faso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Signal faible : un responsable « Dream cosmetics » à Ouagadougou sur LinkedIn.</a:t>
                      </a:r>
                    </a:p>
                  </a:txBody>
                  <a:tcPr marT="21600" marB="21600" anchor="t">
                    <a:solidFill>
                      <a:srgbClr val="FDE7D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trouvée en ligne.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Marina Market, Laborex Burkina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Mali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Signal faible : un produit Dream sur la boutique en ligne Zhooma.</a:t>
                      </a:r>
                    </a:p>
                  </a:txBody>
                  <a:tcPr marT="21600" marB="21600" anchor="t">
                    <a:solidFill>
                      <a:srgbClr val="FDE7D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Kaera : « aucun point de vente » au Mali sur son site.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CIM Market, Laborex Mali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Togo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trouvée.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SIVOP implanté à Lomé ; Gandour présent selon un annuaire.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Ramco (Superamco), Le Champion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Bénin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trouvée.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trouvée en ligne.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Mont Sinaï, Erevan (Super U), UbiPharm Bénin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Guinée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trouvée.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trouvée en ligne.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Carrefour Market Conakry (ouvert en avril 2026), Laborex Guinée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2000" y="5868000"/>
            <a:ext cx="1130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F64"/>
                </a:solidFill>
                <a:latin typeface="Work Sans"/>
              </a:rPr>
              <a:t>Vert = prouvée ; orange = signal isolé à confirmer ; rose = non trouvée. Dream annonce sur son site plus de 30 pays, dont le Sénégal et le Mali, sans liste de distributeurs.</a:t>
            </a:r>
          </a:p>
          <a:p>
            <a:pPr algn="l"/>
            <a:r>
              <a:rPr sz="800" b="0">
                <a:solidFill>
                  <a:srgbClr val="5F5F64"/>
                </a:solidFill>
                <a:latin typeface="Work Sans"/>
              </a:rPr>
              <a:t>Sources : jumia.sn (boutique officielle Dream Cosmetics) · sagaciresearch.com · zhooma.com · npgsenegal.com · goafricaonline.com (SIVOP Lomé) · kaeracosmetic.com · dreamcosmetics.net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4000" y="288000"/>
            <a:ext cx="1504533" cy="46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000" y="251999"/>
            <a:ext cx="9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E172A"/>
                </a:solidFill>
                <a:latin typeface="Work Sans"/>
              </a:rPr>
              <a:t>Au-delà de l'Afrique de l'Ouest, et les trois priorités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37999"/>
            <a:ext cx="11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5F64"/>
                </a:solidFill>
                <a:latin typeface="Work Sans"/>
              </a:rPr>
              <a:t>Ce que les registres publics montrent de Dream à l'export, et où porter l'effort en premier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6516000"/>
            <a:ext cx="11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F5F64"/>
                </a:solidFill>
                <a:latin typeface="Work Sans"/>
              </a:rPr>
              <a:t>Dream Cosmetics · Carte de la distribution · relevé du 28/10/2026 · 3/3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188000"/>
            <a:ext cx="3600000" cy="2376000"/>
          </a:xfrm>
          <a:prstGeom prst="roundRect">
            <a:avLst>
              <a:gd name="adj" fmla="val 6000"/>
            </a:avLst>
          </a:prstGeom>
          <a:solidFill>
            <a:srgbClr val="FBF1F2"/>
          </a:solidFill>
          <a:ln>
            <a:solidFill>
              <a:srgbClr val="FF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331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E172A"/>
                </a:solidFill>
                <a:latin typeface="Work Sans"/>
              </a:rPr>
              <a:t>États-Unis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655999"/>
            <a:ext cx="3311999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• 73 envois aux douanes depuis 2007, 24 clients (base Panjiva).</a:t>
            </a:r>
          </a:p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• Dernier envoi repéré : 15/05/2025, 1 280 cartons vers un grossiste du Massachusetts.</a:t>
            </a:r>
          </a:p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• Revendu sans boutique officielle sur Amazon, eBay, Walmart.com.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8000" y="1188000"/>
            <a:ext cx="3600000" cy="2376000"/>
          </a:xfrm>
          <a:prstGeom prst="roundRect">
            <a:avLst>
              <a:gd name="adj" fmla="val 6000"/>
            </a:avLst>
          </a:prstGeom>
          <a:solidFill>
            <a:srgbClr val="FBF1F2"/>
          </a:solidFill>
          <a:ln>
            <a:solidFill>
              <a:srgbClr val="FF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2000" y="1260000"/>
            <a:ext cx="331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E172A"/>
                </a:solidFill>
                <a:latin typeface="Work Sans"/>
              </a:rPr>
              <a:t>Europe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2000" y="1655999"/>
            <a:ext cx="3311999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• France : Lady Edna, page « Dream Cosmetics - Abidjan » (Dermaskin, Clear Therapy, Cocopulp, Day by Day).</a:t>
            </a:r>
          </a:p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• Gandour et Kaera y sont aussi vendus.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3999" y="1188000"/>
            <a:ext cx="3600000" cy="2376000"/>
          </a:xfrm>
          <a:prstGeom prst="roundRect">
            <a:avLst>
              <a:gd name="adj" fmla="val 6000"/>
            </a:avLst>
          </a:prstGeom>
          <a:solidFill>
            <a:srgbClr val="FBF1F2"/>
          </a:solidFill>
          <a:ln>
            <a:solidFill>
              <a:srgbClr val="FF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7999" y="1260000"/>
            <a:ext cx="331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E172A"/>
                </a:solidFill>
                <a:latin typeface="Work Sans"/>
              </a:rPr>
              <a:t>Autres pays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7999" y="1655999"/>
            <a:ext cx="3311999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• Ghana (Melcom), Nigeria et Kenya (Jumia), Afrique du Sud (Takealot), Bahreïn (Beto Cosmetics) : revendeurs relevés en ligne.</a:t>
            </a:r>
          </a:p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• Plus de 30 pays déclarés par Dream.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744000"/>
            <a:ext cx="11304000" cy="36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3761999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Work Sans"/>
              </a:rPr>
              <a:t>Les trois priorités</a:t>
            </a:r>
          </a:p>
        </p:txBody>
      </p:sp>
      <p:sp>
        <p:nvSpPr>
          <p:cNvPr id="18" name="Oval 17"/>
          <p:cNvSpPr/>
          <p:nvPr/>
        </p:nvSpPr>
        <p:spPr>
          <a:xfrm>
            <a:off x="432000" y="4284000"/>
            <a:ext cx="432000" cy="432000"/>
          </a:xfrm>
          <a:prstGeom prst="ellipse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Work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999" y="4248000"/>
            <a:ext cx="31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Work Sans"/>
              </a:rPr>
              <a:t>Se rendre visible en Côte d'Ivoire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999" y="4752000"/>
            <a:ext cx="316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Publier la liste de ses points de vente et ouvrir la boutique officielle Jumia : Gandour et SIVOP l'ont fait.</a:t>
            </a:r>
          </a:p>
        </p:txBody>
      </p:sp>
      <p:sp>
        <p:nvSpPr>
          <p:cNvPr id="21" name="Oval 20"/>
          <p:cNvSpPr/>
          <p:nvPr/>
        </p:nvSpPr>
        <p:spPr>
          <a:xfrm>
            <a:off x="4248000" y="4284000"/>
            <a:ext cx="432000" cy="432000"/>
          </a:xfrm>
          <a:prstGeom prst="ellipse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Work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1999" y="4248000"/>
            <a:ext cx="31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Work Sans"/>
              </a:rPr>
              <a:t>Entrer en grande distribution et en pharmacie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1999" y="4752000"/>
            <a:ext cx="316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Prosuma, CFAO et les répartiteurs Copharmed, UbiPharm, DPCI : là où SIVOP est déjà référencé.</a:t>
            </a:r>
          </a:p>
        </p:txBody>
      </p:sp>
      <p:sp>
        <p:nvSpPr>
          <p:cNvPr id="24" name="Oval 23"/>
          <p:cNvSpPr/>
          <p:nvPr/>
        </p:nvSpPr>
        <p:spPr>
          <a:xfrm>
            <a:off x="8063999" y="4284000"/>
            <a:ext cx="432000" cy="432000"/>
          </a:xfrm>
          <a:prstGeom prst="ellipse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Work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98" y="4248000"/>
            <a:ext cx="31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Work Sans"/>
              </a:rPr>
              <a:t>Capitaliser sur le Sénégal et les clients américains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7998" y="4752000"/>
            <a:ext cx="316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Le Sénégal est le seul pays de la sous-région où la présence est prouvée ; aux États-Unis, des importateurs achètent déjà.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5976000"/>
            <a:ext cx="1130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F64"/>
                </a:solidFill>
                <a:latin typeface="Work Sans"/>
              </a:rPr>
              <a:t>Aucun chiffre d'affaires, volume ou part de marché n'est avancé : les données publiques ne le permettent pas. « 24 clients » est le chiffre de la base Panjiva, pas une donnée de Dream.</a:t>
            </a:r>
          </a:p>
          <a:p>
            <a:pPr algn="l"/>
            <a:r>
              <a:rPr sz="800" b="0">
                <a:solidFill>
                  <a:srgbClr val="5F5F64"/>
                </a:solidFill>
                <a:latin typeface="Work Sans"/>
              </a:rPr>
              <a:t>Sources : panjiva.com/Dream-Cosmetics · importgenius.com · ladyedna.com · melcom.com · jumia.com.ng · takealot.com · betocosmetics.com · dreamcosmetics.net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