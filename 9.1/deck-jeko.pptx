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6" cy="6858006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239006" y="0"/>
            <a:ext cx="4953004" cy="6858006"/>
          </a:xfrm>
          <a:prstGeom prst="rect">
            <a:avLst/>
          </a:prstGeom>
          <a:solidFill>
            <a:srgbClr val="ED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1500"/>
            <a:ext cx="1860232" cy="800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619251"/>
            <a:ext cx="6096005" cy="819150"/>
          </a:xfrm>
          <a:prstGeom prst="rect">
            <a:avLst/>
          </a:prstGeom>
          <a:solidFill>
            <a:srgbClr val="FFF3CD"/>
          </a:solidFill>
          <a:ln w="1905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050" b="1">
                <a:solidFill>
                  <a:srgbClr val="6B4E00"/>
                </a:solidFill>
                <a:latin typeface="Poppins"/>
              </a:rPr>
              <a:t>FICTIF : document d'entraînement. Les chiffres du site sont cités avec leur page, les exemples chiffrés sont marqués FICTIF. Aucun commerce n'a été contacté.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714627"/>
            <a:ext cx="3143252" cy="323850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1050" b="1">
                <a:solidFill>
                  <a:srgbClr val="FFFFFF"/>
                </a:solidFill>
                <a:latin typeface="Poppins"/>
              </a:rPr>
              <a:t>DECK DE VENTE · JÈKO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143252"/>
            <a:ext cx="6286505" cy="180975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4050" b="1">
                <a:solidFill>
                  <a:srgbClr val="3A0CA3"/>
                </a:solidFill>
                <a:latin typeface="Poppins"/>
              </a:rPr>
              <a:t>Encaissez tous vos clients avec un seul appareil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5048254"/>
            <a:ext cx="6286505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800" b="0">
                <a:solidFill>
                  <a:srgbClr val="1F2C3D"/>
                </a:solidFill>
                <a:latin typeface="Poppins"/>
              </a:rPr>
              <a:t>La Jèko Box pour les commerces du Plateau et de Cocody</a:t>
            </a:r>
          </a:p>
        </p:txBody>
      </p:sp>
      <p:pic>
        <p:nvPicPr>
          <p:cNvPr id="9" name="Picture 8" descr="jekobox-terminal-pai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6" y="1809751"/>
            <a:ext cx="4762504" cy="36747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6438905"/>
            <a:ext cx="6477005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825" b="0">
                <a:solidFill>
                  <a:srgbClr val="525866"/>
                </a:solidFill>
                <a:latin typeface="Poppins"/>
              </a:rPr>
              <a:t>Kouassi, Expert commercial et ventes · 15/10/2026 · jeko.africa/terminal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76200" cy="53340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381000"/>
            <a:ext cx="8572507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2700" b="1">
                <a:solidFill>
                  <a:srgbClr val="3A0CA3"/>
                </a:solidFill>
                <a:latin typeface="Poppins"/>
              </a:rPr>
              <a:t>Un client, un montant, une confirmation à voix haute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9" y="381000"/>
            <a:ext cx="1018699" cy="43815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09600" y="1428751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800" b="1">
                <a:solidFill>
                  <a:srgbClr val="6BF4C7"/>
                </a:solidFill>
                <a:latin typeface="Poppin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1101" y="1352551"/>
            <a:ext cx="5715005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650" b="1">
                <a:solidFill>
                  <a:srgbClr val="3A0CA3"/>
                </a:solidFill>
                <a:latin typeface="Poppins"/>
              </a:rPr>
              <a:t>Le client annonce son montant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1101" y="1657351"/>
            <a:ext cx="5715005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Pas de QR code à scanner au hasard, pas de téléphone à passer de main en main.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381252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800" b="1">
                <a:solidFill>
                  <a:srgbClr val="6BF4C7"/>
                </a:solidFill>
                <a:latin typeface="Poppin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1101" y="2305052"/>
            <a:ext cx="5715005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650" b="1">
                <a:solidFill>
                  <a:srgbClr val="3A0CA3"/>
                </a:solidFill>
                <a:latin typeface="Poppins"/>
              </a:rPr>
              <a:t>Vous saisissez la somme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1101" y="2609852"/>
            <a:ext cx="5715005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Sur la Jèko Box, au comptoir.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3333753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800" b="1">
                <a:solidFill>
                  <a:srgbClr val="6BF4C7"/>
                </a:solidFill>
                <a:latin typeface="Poppins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1" y="3257552"/>
            <a:ext cx="5715005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650" b="1">
                <a:solidFill>
                  <a:srgbClr val="3A0CA3"/>
                </a:solidFill>
                <a:latin typeface="Poppins"/>
              </a:rPr>
              <a:t>Le client valide sur son téléphone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1101" y="3562353"/>
            <a:ext cx="5715005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Mobile Money ou carte : le moyen qu'il a déjà.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286253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800" b="1">
                <a:solidFill>
                  <a:srgbClr val="6BF4C7"/>
                </a:solidFill>
                <a:latin typeface="Poppi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1101" y="4210053"/>
            <a:ext cx="5715005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650" b="1">
                <a:solidFill>
                  <a:srgbClr val="3A0CA3"/>
                </a:solidFill>
                <a:latin typeface="Poppins"/>
              </a:rPr>
              <a:t>La box annonce la confirmation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1101" y="4514854"/>
            <a:ext cx="5715005" cy="476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Notification vocale, et les fonds arrivent aussitôt sur votre compte Jèko.</a:t>
            </a:r>
          </a:p>
        </p:txBody>
      </p:sp>
      <p:pic>
        <p:nvPicPr>
          <p:cNvPr id="17" name="Picture 16" descr="application-paiement-je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6" y="1428751"/>
            <a:ext cx="4438654" cy="240045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9600" y="5429254"/>
            <a:ext cx="1524001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1125" b="1">
                <a:solidFill>
                  <a:srgbClr val="3A0CA3"/>
                </a:solidFill>
                <a:latin typeface="Poppins"/>
              </a:rPr>
              <a:t>Moyens acceptés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829305"/>
            <a:ext cx="742950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Visa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8751" y="5829305"/>
            <a:ext cx="1371601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Mastercard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6552" y="5829305"/>
            <a:ext cx="1581151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Orange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3904" y="5829305"/>
            <a:ext cx="2000251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MTN Mobile Money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0355" y="5829305"/>
            <a:ext cx="1371601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Moov Money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8157" y="5829305"/>
            <a:ext cx="847725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Djamo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2083" y="5829305"/>
            <a:ext cx="1790701" cy="323850"/>
          </a:xfrm>
          <a:prstGeom prst="roundRect">
            <a:avLst/>
          </a:prstGeom>
          <a:solidFill>
            <a:srgbClr val="EDF0FE"/>
          </a:solidFill>
          <a:ln w="19050">
            <a:solidFill>
              <a:srgbClr val="3A0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050" b="1">
                <a:solidFill>
                  <a:srgbClr val="3A0CA3"/>
                </a:solidFill>
                <a:latin typeface="Poppins"/>
              </a:rPr>
              <a:t>QR code PI-SPI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6438905"/>
            <a:ext cx="9906008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825" b="0">
                <a:solidFill>
                  <a:srgbClr val="525866"/>
                </a:solidFill>
                <a:latin typeface="Poppins"/>
              </a:rPr>
              <a:t>Source : jeko.africa/terminal, lue le 15/10/2026. Visuel : jeko.africa.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53759" y="6438905"/>
            <a:ext cx="62865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r"/>
            <a:r>
              <a:rPr sz="900" b="1">
                <a:solidFill>
                  <a:srgbClr val="3A0CA3"/>
                </a:solidFill>
                <a:latin typeface="Poppin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76200" cy="53340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381000"/>
            <a:ext cx="8572507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2700" b="1">
                <a:solidFill>
                  <a:srgbClr val="3A0CA3"/>
                </a:solidFill>
                <a:latin typeface="Poppins"/>
              </a:rPr>
              <a:t>Le prix, en entier, dès le premier rendez-vous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9" y="381000"/>
            <a:ext cx="1018699" cy="438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28751"/>
            <a:ext cx="3581403" cy="5715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485901"/>
            <a:ext cx="3581403" cy="2857502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704850" y="1581151"/>
            <a:ext cx="3390903" cy="66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3450" b="1">
                <a:solidFill>
                  <a:srgbClr val="3A0CA3"/>
                </a:solidFill>
                <a:latin typeface="Poppins"/>
              </a:rPr>
              <a:t>50 000 F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2286002"/>
            <a:ext cx="3390903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500" b="1">
                <a:solidFill>
                  <a:srgbClr val="3A0CA3"/>
                </a:solidFill>
                <a:latin typeface="Poppins"/>
              </a:rPr>
              <a:t>la Jèko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" y="2714627"/>
            <a:ext cx="3390903" cy="161925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Prix de la box uniquement. Installation, prise en main, Wifi, mises à jour, assistance 7j/7 et garantie 12 mois inclus.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5303" y="1428751"/>
            <a:ext cx="3581403" cy="5715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05303" y="1485901"/>
            <a:ext cx="3581403" cy="2857502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400553" y="1581151"/>
            <a:ext cx="3390903" cy="66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3450" b="1">
                <a:solidFill>
                  <a:srgbClr val="3A0CA3"/>
                </a:solidFill>
                <a:latin typeface="Poppins"/>
              </a:rPr>
              <a:t>1 %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0553" y="2286002"/>
            <a:ext cx="3390903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500" b="1">
                <a:solidFill>
                  <a:srgbClr val="3A0CA3"/>
                </a:solidFill>
                <a:latin typeface="Poppins"/>
              </a:rPr>
              <a:t>par vente encaissée en magasin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0553" y="2714627"/>
            <a:ext cx="3390903" cy="161925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Pas d'abonnement, pas de frais d'activation. Prix TTC, sur chaque transaction réussie.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7" y="1428751"/>
            <a:ext cx="3581403" cy="5715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7" y="1485901"/>
            <a:ext cx="3581403" cy="2857502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96257" y="1581151"/>
            <a:ext cx="3390903" cy="66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3450" b="1">
                <a:solidFill>
                  <a:srgbClr val="3A0CA3"/>
                </a:solidFill>
                <a:latin typeface="Poppins"/>
              </a:rPr>
              <a:t>25 000 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6257" y="2286002"/>
            <a:ext cx="3390903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500" b="1">
                <a:solidFill>
                  <a:srgbClr val="3A0CA3"/>
                </a:solidFill>
                <a:latin typeface="Poppins"/>
              </a:rPr>
              <a:t>par an, option SIM 4G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6257" y="2714627"/>
            <a:ext cx="3390903" cy="161925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Carte SIM avec forfait internet. Recommandée par Jèko, non obligatoire si le Wifi du commerce est bon.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572004"/>
            <a:ext cx="10972809" cy="533400"/>
          </a:xfrm>
          <a:prstGeom prst="rect">
            <a:avLst/>
          </a:prstGeom>
          <a:solidFill>
            <a:srgbClr val="FFF3CD"/>
          </a:solidFill>
          <a:ln w="1905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1200" b="0">
                <a:solidFill>
                  <a:srgbClr val="6B4E00"/>
                </a:solidFill>
                <a:latin typeface="Poppins"/>
              </a:rPr>
              <a:t>FICTIF  Exemple FICTIF : une boutique qui encaisse 2 000 000 F par mois à la box paie 20 000 F de commission (1 %). Le commerçant remplace ce volume par le sien.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238754"/>
            <a:ext cx="10972809" cy="666750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1200" b="0">
                <a:solidFill>
                  <a:srgbClr val="1F2C3D"/>
                </a:solidFill>
                <a:latin typeface="Poppins"/>
              </a:rPr>
              <a:t>À savoir : le reversement vers Wave coûte 1,5 %, le virement bancaire 1 000 F fixes. Garantie 12 mois : remplacement par une nouvelle box en cas de souci.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438905"/>
            <a:ext cx="9906008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825" b="0">
                <a:solidFill>
                  <a:srgbClr val="525866"/>
                </a:solidFill>
                <a:latin typeface="Poppins"/>
              </a:rPr>
              <a:t>Source : jeko.africa/pricing et /terminal, lues le 15/10/2026.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53759" y="6438905"/>
            <a:ext cx="62865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r"/>
            <a:r>
              <a:rPr sz="900" b="1">
                <a:solidFill>
                  <a:srgbClr val="3A0CA3"/>
                </a:solidFill>
                <a:latin typeface="Poppin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76200" cy="53340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381000"/>
            <a:ext cx="8572507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2700" b="1">
                <a:solidFill>
                  <a:srgbClr val="3A0CA3"/>
                </a:solidFill>
                <a:latin typeface="Poppins"/>
              </a:rPr>
              <a:t>Ce que Jèko affirme, et ce qu'il reste à confirmer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9" y="381000"/>
            <a:ext cx="1018699" cy="438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333501"/>
            <a:ext cx="3581403" cy="5715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90651"/>
            <a:ext cx="3581403" cy="200025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704850" y="1428751"/>
            <a:ext cx="3390903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3000" b="1">
                <a:solidFill>
                  <a:srgbClr val="3A0CA3"/>
                </a:solidFill>
                <a:latin typeface="Poppins"/>
              </a:rPr>
              <a:t>600+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1981201"/>
            <a:ext cx="3390903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commerçants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" y="2324102"/>
            <a:ext cx="3390903" cy="104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087" b="0">
                <a:solidFill>
                  <a:srgbClr val="1F2C3D"/>
                </a:solidFill>
                <a:latin typeface="Poppins"/>
              </a:rPr>
              <a:t>« Rejoignez plus de 600 commerçants » (jeko.africa/terminal). Chiffre annoncé par Jèko, non daté.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5303" y="1333501"/>
            <a:ext cx="3581403" cy="5715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05303" y="1390651"/>
            <a:ext cx="3581403" cy="200025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400553" y="1428751"/>
            <a:ext cx="3390903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3000" b="1">
                <a:solidFill>
                  <a:srgbClr val="3A0CA3"/>
                </a:solidFill>
                <a:latin typeface="Poppins"/>
              </a:rPr>
              <a:t>98 %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0553" y="1981201"/>
            <a:ext cx="3390903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taux de réussite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0553" y="2324102"/>
            <a:ext cx="3390903" cy="104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087" b="0">
                <a:solidFill>
                  <a:srgbClr val="1F2C3D"/>
                </a:solidFill>
                <a:latin typeface="Poppins"/>
              </a:rPr>
              <a:t>Annoncé en page d'accueil, sans définition ni date : à citer comme annoncé par Jèko.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7" y="1333501"/>
            <a:ext cx="3581403" cy="5715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7" y="1390651"/>
            <a:ext cx="3581403" cy="200025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96257" y="1428751"/>
            <a:ext cx="3390903" cy="571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3000" b="1">
                <a:solidFill>
                  <a:srgbClr val="3A0CA3"/>
                </a:solidFill>
                <a:latin typeface="Poppins"/>
              </a:rPr>
              <a:t>BCEAO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6257" y="1981201"/>
            <a:ext cx="3390903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cadre réglementaire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6257" y="2324102"/>
            <a:ext cx="3390903" cy="104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087" b="0">
                <a:solidFill>
                  <a:srgbClr val="1F2C3D"/>
                </a:solidFill>
                <a:latin typeface="Poppins"/>
              </a:rPr>
              <a:t>Jèko opère pour le compte de Julaya, établissement de paiement agréé par la BCEAO.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505203"/>
            <a:ext cx="10972809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087" b="0">
                <a:solidFill>
                  <a:srgbClr val="1F2C3D"/>
                </a:solidFill>
                <a:latin typeface="Poppins"/>
              </a:rPr>
              <a:t>Références affichées sur la page d'accueil : Africafé, Nougatine, Sup Market, Top Market, Kahwa Resto Café, Maquis Chez Hélène. Un logo affiché n'autorise pas à les citer : accord à demander avant tout usage en rendez-vous.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152903"/>
            <a:ext cx="10972809" cy="2152651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125" b="1">
                <a:solidFill>
                  <a:srgbClr val="7A4B00"/>
                </a:solidFill>
                <a:latin typeface="Poppins"/>
              </a:rPr>
              <a:t>À confirmer avant de promettre</a:t>
            </a:r>
          </a:p>
          <a:p>
            <a:pPr algn="l"/>
            <a:r>
              <a:rPr sz="1125" b="0">
                <a:solidFill>
                  <a:srgbClr val="7A4B00"/>
                </a:solidFill>
                <a:latin typeface="Poppins"/>
              </a:rPr>
              <a:t>• Fonctionnement sans connexion : la page d'accueil dit « sans internet », la FAQ dit que la connexion est nécessaire. Ne rien promettre avant la réponse de l'équipe produit.</a:t>
            </a:r>
          </a:p>
          <a:p>
            <a:pPr algn="l"/>
            <a:r>
              <a:rPr sz="1125" b="0">
                <a:solidFill>
                  <a:srgbClr val="7A4B00"/>
                </a:solidFill>
                <a:latin typeface="Poppins"/>
              </a:rPr>
              <a:t>• Wave en encaissement : non listé parmi les moyens acceptés sur la page terminal. À confirmer.</a:t>
            </a:r>
          </a:p>
          <a:p>
            <a:pPr algn="l"/>
            <a:r>
              <a:rPr sz="1125" b="0">
                <a:solidFill>
                  <a:srgbClr val="7A4B00"/>
                </a:solidFill>
                <a:latin typeface="Poppins"/>
              </a:rPr>
              <a:t>• Paiement échelonné de la box et délai réel de pose : non publiés.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438905"/>
            <a:ext cx="9906008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825" b="0">
                <a:solidFill>
                  <a:srgbClr val="525866"/>
                </a:solidFill>
                <a:latin typeface="Poppins"/>
              </a:rPr>
              <a:t>Sources : jeko.africa (accueil, /terminal, /pricing, FAQ), lues le 15/10/2026.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53759" y="6438905"/>
            <a:ext cx="62865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r"/>
            <a:r>
              <a:rPr sz="900" b="1">
                <a:solidFill>
                  <a:srgbClr val="3A0CA3"/>
                </a:solidFill>
                <a:latin typeface="Poppin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76200" cy="533400"/>
          </a:xfrm>
          <a:prstGeom prst="rect">
            <a:avLst/>
          </a:prstGeom>
          <a:solidFill>
            <a:srgbClr val="6BF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381000"/>
            <a:ext cx="8572507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l"/>
            <a:r>
              <a:rPr sz="2700" b="1">
                <a:solidFill>
                  <a:srgbClr val="3A0CA3"/>
                </a:solidFill>
                <a:latin typeface="Poppins"/>
              </a:rPr>
              <a:t>Prochaine étape : une box posée, un point à 15 jours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9" y="381000"/>
            <a:ext cx="1018699" cy="438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28751"/>
            <a:ext cx="2628902" cy="190500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04951"/>
            <a:ext cx="419100" cy="4191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650" b="1">
                <a:solidFill>
                  <a:srgbClr val="6BF4C7"/>
                </a:solidFill>
                <a:latin typeface="Poppi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81201"/>
            <a:ext cx="2476502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Paiement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81252"/>
            <a:ext cx="2476502" cy="904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125" b="0">
                <a:solidFill>
                  <a:srgbClr val="1F2C3D"/>
                </a:solidFill>
                <a:latin typeface="Poppins"/>
              </a:rPr>
              <a:t>Une vente de 100 F à la box, pour entendre la confirmation vocale.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903" y="1428751"/>
            <a:ext cx="2628902" cy="190500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3467103" y="1504951"/>
            <a:ext cx="419100" cy="4191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650" b="1">
                <a:solidFill>
                  <a:srgbClr val="6BF4C7"/>
                </a:solidFill>
                <a:latin typeface="Poppin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7103" y="1981201"/>
            <a:ext cx="2476502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Commande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7103" y="2381252"/>
            <a:ext cx="2476502" cy="904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125" b="0">
                <a:solidFill>
                  <a:srgbClr val="1F2C3D"/>
                </a:solidFill>
                <a:latin typeface="Poppins"/>
              </a:rPr>
              <a:t>Via jeko.africa/contact. Installation et prise en main incluses.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5" y="1428751"/>
            <a:ext cx="2628902" cy="190500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6248405" y="1504951"/>
            <a:ext cx="419100" cy="4191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650" b="1">
                <a:solidFill>
                  <a:srgbClr val="6BF4C7"/>
                </a:solidFill>
                <a:latin typeface="Poppi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5" y="1981201"/>
            <a:ext cx="2476502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Pose dans la semaine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5" y="2381252"/>
            <a:ext cx="2476502" cy="904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125" b="0">
                <a:solidFill>
                  <a:srgbClr val="1F2C3D"/>
                </a:solidFill>
                <a:latin typeface="Poppins"/>
              </a:rPr>
              <a:t>Objectif de l'équipe (FICTIF) : le délai réel n'est pas publié par Jèko.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3508" y="1428751"/>
            <a:ext cx="2628902" cy="1905001"/>
          </a:xfrm>
          <a:prstGeom prst="rect">
            <a:avLst/>
          </a:prstGeom>
          <a:solidFill>
            <a:srgbClr val="ED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200" b="0">
                <a:solidFill>
                  <a:srgbClr val="0E121B"/>
                </a:solidFill>
                <a:latin typeface="Poppins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9029708" y="1504951"/>
            <a:ext cx="419100" cy="4191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57150" bIns="57150"/>
          <a:lstStyle/>
          <a:p>
            <a:pPr algn="ctr"/>
            <a:r>
              <a:rPr sz="1650" b="1">
                <a:solidFill>
                  <a:srgbClr val="6BF4C7"/>
                </a:solidFill>
                <a:latin typeface="Poppi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708" y="1981201"/>
            <a:ext cx="2476502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425" b="1">
                <a:solidFill>
                  <a:srgbClr val="3A0CA3"/>
                </a:solidFill>
                <a:latin typeface="Poppins"/>
              </a:rPr>
              <a:t>Point à 15 jours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708" y="2381252"/>
            <a:ext cx="2476502" cy="904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125" b="0">
                <a:solidFill>
                  <a:srgbClr val="1F2C3D"/>
                </a:solidFill>
                <a:latin typeface="Poppins"/>
              </a:rPr>
              <a:t>Volume encaissé, moyens de paiement les plus utilisés, questions du personnel.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619503"/>
            <a:ext cx="10972809" cy="25717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1350" b="1">
                <a:solidFill>
                  <a:srgbClr val="FFFFFF"/>
                </a:solidFill>
                <a:latin typeface="Poppins"/>
              </a:rPr>
              <a:t>Suite proposée (non lancée)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Poppins"/>
              </a:rPr>
              <a:t>• Liste de prospects : 32 commerces notés, déjà préparés (test 5.1)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Poppins"/>
              </a:rPr>
              <a:t>• Messages d'accroche par segment : maquis, pharmacie, supérette, salon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Poppins"/>
              </a:rPr>
              <a:t>• Envoi : uniquement sur accord de l'équipe Jèko, rien n'est parti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Poppins"/>
              </a:rPr>
              <a:t>• Rendez-vous : à caler après les appels de vérification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438905"/>
            <a:ext cx="9906008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l"/>
            <a:r>
              <a:rPr sz="825" b="0">
                <a:solidFill>
                  <a:srgbClr val="525866"/>
                </a:solidFill>
                <a:latin typeface="Poppins"/>
              </a:rPr>
              <a:t>Sources : jeko.africa (accueil, /terminal, /pricing, /contact, FAQ), lues le 15/10/2026. Aucun commerce n'a été contacté.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53759" y="6438905"/>
            <a:ext cx="62865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rIns="95250" tIns="57150" bIns="57150"/>
          <a:lstStyle/>
          <a:p>
            <a:pPr algn="r"/>
            <a:r>
              <a:rPr sz="900" b="1">
                <a:solidFill>
                  <a:srgbClr val="3A0CA3"/>
                </a:solidFill>
                <a:latin typeface="Poppin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