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720000"/>
            <a:ext cx="2076923" cy="5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4000" y="2304000"/>
            <a:ext cx="1440000" cy="90000"/>
          </a:xfrm>
          <a:prstGeom prst="rect">
            <a:avLst/>
          </a:prstGeom>
          <a:solidFill>
            <a:srgbClr val="D1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2592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Outfit"/>
              </a:rPr>
              <a:t>Julaya face à Wave Business</a:t>
            </a:r>
          </a:p>
          <a:p>
            <a:pPr>
              <a:spcBef>
                <a:spcPts val="1400"/>
              </a:spcBef>
            </a:pPr>
            <a:r>
              <a:rPr sz="1900" b="0">
                <a:solidFill>
                  <a:srgbClr val="D1D0FF"/>
                </a:solidFill>
                <a:latin typeface="Inter"/>
              </a:rPr>
              <a:t>L'argumentaire des commerciaux : où Julaya gagne, où Wave suffit, et quoi répondre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6048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C8"/>
                </a:solidFill>
                <a:latin typeface="Inter"/>
              </a:rPr>
              <a:t>Document interne · 21 octobre 2026 · faits relevés sur les deux sites officiels le 21/10/2026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Commencer par reconnaître ce que Wave fait bien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224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Inter"/>
              </a:rPr>
              <a:t>Le prospect qui cite Wave a de bonnes raisons. Les nier, c'est perdre la conversation.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1692000"/>
            <a:ext cx="5112000" cy="424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000" y="1692000"/>
            <a:ext cx="5112000" cy="90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1908000"/>
            <a:ext cx="46800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856C6"/>
                </a:solidFill>
                <a:latin typeface="Outfit"/>
              </a:rPr>
              <a:t>Ce que Wave Business met en avant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Paiements en masse à </a:t>
            </a:r>
            <a:r>
              <a:rPr sz="1400" b="1">
                <a:solidFill>
                  <a:srgbClr val="292929"/>
                </a:solidFill>
                <a:latin typeface="Inter"/>
              </a:rPr>
              <a:t>1 %</a:t>
            </a:r>
            <a:r>
              <a:rPr sz="1400" b="0">
                <a:solidFill>
                  <a:srgbClr val="292929"/>
                </a:solidFill>
                <a:latin typeface="Inter"/>
              </a:rPr>
              <a:t>, gratuits pour le destinataire, retirables chez n'importe quel agent Wave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Encaissement en boutique : </a:t>
            </a:r>
            <a:r>
              <a:rPr sz="1400" b="1">
                <a:solidFill>
                  <a:srgbClr val="292929"/>
                </a:solidFill>
                <a:latin typeface="Inter"/>
              </a:rPr>
              <a:t>20 000 FCFA gratuits par jour</a:t>
            </a:r>
            <a:r>
              <a:rPr sz="1400" b="0">
                <a:solidFill>
                  <a:srgbClr val="292929"/>
                </a:solidFill>
                <a:latin typeface="Inter"/>
              </a:rPr>
              <a:t>, 1 % au-delà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1">
                <a:solidFill>
                  <a:srgbClr val="292929"/>
                </a:solidFill>
                <a:latin typeface="Inter"/>
              </a:rPr>
              <a:t>500 000+ bénéficiaires</a:t>
            </a:r>
            <a:r>
              <a:rPr sz="1400" b="0">
                <a:solidFill>
                  <a:srgbClr val="292929"/>
                </a:solidFill>
                <a:latin typeface="Inter"/>
              </a:rPr>
              <a:t> de paiements d'entreprises chaque mois, </a:t>
            </a:r>
            <a:r>
              <a:rPr sz="1400" b="1">
                <a:solidFill>
                  <a:srgbClr val="292929"/>
                </a:solidFill>
                <a:latin typeface="Inter"/>
              </a:rPr>
              <a:t>100 000+ marchands</a:t>
            </a:r>
            <a:r>
              <a:rPr sz="1400" b="0">
                <a:solidFill>
                  <a:srgbClr val="292929"/>
                </a:solidFill>
                <a:latin typeface="Inter"/>
              </a:rPr>
              <a:t> actifs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Des références très connues : Jumia, Total, Auchan, Shell, Yango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2000" y="1692000"/>
            <a:ext cx="5112000" cy="4248000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2000" y="1692000"/>
            <a:ext cx="5112000" cy="90000"/>
          </a:xfrm>
          <a:prstGeom prst="rect">
            <a:avLst/>
          </a:prstGeom>
          <a:solidFill>
            <a:srgbClr val="DC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8000" y="1908000"/>
            <a:ext cx="46800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C9248"/>
                </a:solidFill>
                <a:latin typeface="Outfit"/>
              </a:rPr>
              <a:t>La phrase à savoir dire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« Si vous ne payez que des salariés qui ont tous Wave, sans validation à plusieurs et sans comptabilité derrière, </a:t>
            </a:r>
            <a:r>
              <a:rPr sz="1400" b="1">
                <a:solidFill>
                  <a:srgbClr val="292929"/>
                </a:solidFill>
                <a:latin typeface="Inter"/>
              </a:rPr>
              <a:t>Wave vous suffit, prenez-le.</a:t>
            </a:r>
            <a:r>
              <a:rPr sz="1400" b="0">
                <a:solidFill>
                  <a:srgbClr val="292929"/>
                </a:solidFill>
                <a:latin typeface="Inter"/>
              </a:rPr>
              <a:t> »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Elle coûte peu d'affaires et elle rend crédible tout le reste.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5976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5C5C"/>
                </a:solidFill>
                <a:latin typeface="Inter"/>
              </a:rPr>
              <a:t>Sources : wave.com/fr/business, relevé le 21/10/2026.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Le terrain où se joue la vente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000" y="1296000"/>
            <a:ext cx="10440000" cy="1728000"/>
          </a:xfrm>
          <a:prstGeom prst="roundRect">
            <a:avLst>
              <a:gd name="adj" fmla="val 8000"/>
            </a:avLst>
          </a:prstGeom>
          <a:solidFill>
            <a:srgbClr val="2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1584000"/>
            <a:ext cx="9720000" cy="12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Outfit"/>
              </a:rPr>
              <a:t>« Payez vos équipes sur Wave, vos fournisseurs à la banque et vos agents sur Orange Money, depuis un seul compte validé par votre DAF.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3384000"/>
            <a:ext cx="104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5856C6"/>
                </a:solidFill>
                <a:latin typeface="Inter"/>
              </a:rPr>
              <a:t>•  </a:t>
            </a:r>
            <a:r>
              <a:rPr sz="1700" b="0">
                <a:solidFill>
                  <a:srgbClr val="292929"/>
                </a:solidFill>
                <a:latin typeface="Inter"/>
              </a:rPr>
              <a:t>Julaya n'est pas « un autre Wave ». C'est </a:t>
            </a:r>
            <a:r>
              <a:rPr sz="1700" b="1">
                <a:solidFill>
                  <a:srgbClr val="292929"/>
                </a:solidFill>
                <a:latin typeface="Inter"/>
              </a:rPr>
              <a:t>le compte qui tient tous les flux de l'entreprise</a:t>
            </a:r>
            <a:r>
              <a:rPr sz="1700" b="0">
                <a:solidFill>
                  <a:srgbClr val="292929"/>
                </a:solidFill>
                <a:latin typeface="Inter"/>
              </a:rPr>
              <a:t>, Wave compris.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5856C6"/>
                </a:solidFill>
                <a:latin typeface="Inter"/>
              </a:rPr>
              <a:t>•  </a:t>
            </a:r>
            <a:r>
              <a:rPr sz="1700" b="0">
                <a:solidFill>
                  <a:srgbClr val="292929"/>
                </a:solidFill>
                <a:latin typeface="Inter"/>
              </a:rPr>
              <a:t>On ne se bat pas sur le prix d'un transfert. On parle du </a:t>
            </a:r>
            <a:r>
              <a:rPr sz="1700" b="1">
                <a:solidFill>
                  <a:srgbClr val="292929"/>
                </a:solidFill>
                <a:latin typeface="Inter"/>
              </a:rPr>
              <a:t>coût de gérer ses paiements à plusieurs endroits</a:t>
            </a:r>
            <a:r>
              <a:rPr sz="1700" b="0">
                <a:solidFill>
                  <a:srgbClr val="292929"/>
                </a:solidFill>
                <a:latin typeface="Inter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5856C6"/>
                </a:solidFill>
                <a:latin typeface="Inter"/>
              </a:rPr>
              <a:t>•  </a:t>
            </a:r>
            <a:r>
              <a:rPr sz="1700" b="0">
                <a:solidFill>
                  <a:srgbClr val="292929"/>
                </a:solidFill>
                <a:latin typeface="Inter"/>
              </a:rPr>
              <a:t>La question qui déplace le terrain : </a:t>
            </a:r>
            <a:r>
              <a:rPr sz="1700" b="1">
                <a:solidFill>
                  <a:srgbClr val="292929"/>
                </a:solidFill>
                <a:latin typeface="Inter"/>
              </a:rPr>
              <a:t>« Aujourd'hui, quelle part de vos paiements ne part pas vers Wave ?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Le comparatif, sur les critères du DAF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224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Inter"/>
              </a:rPr>
              <a:t>Une ligne sans source ne sort pas. La première ligne est en faveur de Wave, et on la laisse.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4000" y="1692000"/>
          <a:ext cx="10439999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00"/>
                <a:gridCol w="3226909"/>
                <a:gridCol w="3606545"/>
                <a:gridCol w="1518545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Critère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Wave Business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Julaya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Source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Notoriété et habitude des bénéficiaires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Avantage Wave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 : marque connue de tous, 500 000+ bénéficiaires par mois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Moins connu du grand public ; 10 000+ professionnels, 1 000+ moyennes et grandes entreprises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Les deux sites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Réseaux de paiement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 portefeuille Wave (retrait possible chez un agent Wave)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Orange, MTN, Moov, Wave, Djamo, </a:t>
                      </a:r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toutes les banques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, factures CIE, SODECI…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Les deux sites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Contrôle avant paiement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⟦non trouvé sur le site de Wave, à vérifier⟧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Niveaux d'accès et de validation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, politique de signature réglable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julaya.co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Plusieurs sociétés ou entités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⟦non trouvé sur le site de Wave, à vérifier⟧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Multi-entreprises et sous-comptes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julaya.co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Comptabilité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Suivi en temps réel sur le portail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Exports comptables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, justificatifs joints à chaque paiement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Les deux sites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Recevoir des virements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Non mis en avant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RIB Julaya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 : virements de toute la zone UEMOA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julaya.co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Prix des transferts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1 %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 quel que soit le volume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De </a:t>
                      </a:r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0,5 % à 1,5 %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 selon le volume et l'opérateur ; transferts entre entreprises Julaya gratuits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Pages tarifs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000" y="5976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5C5C"/>
                </a:solidFill>
                <a:latin typeface="Inter"/>
              </a:rPr>
              <a:t>Relevé le 21/10/2026 sur wave.com/fr/business et julaya.co/fr/prices. Les chiffres de Wave lus sur des blogs (taille des lots, plafonds par paiement) ne s'utilisent pas tant qu'ils ne sont pas confirmés par Wave.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Qui chasser, et qui laisser à 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224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Inter"/>
              </a:rPr>
              <a:t>Le temps des commerciaux va là où Julaya gagne. Le reste, on ne le force pas.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1692000"/>
            <a:ext cx="5112000" cy="424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000" y="1692000"/>
            <a:ext cx="5112000" cy="90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1908000"/>
            <a:ext cx="46800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856C6"/>
                </a:solidFill>
                <a:latin typeface="Outfit"/>
              </a:rPr>
              <a:t>Julaya gagne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Plus de 50 salariés, ou </a:t>
            </a:r>
            <a:r>
              <a:rPr sz="1400" b="1">
                <a:solidFill>
                  <a:srgbClr val="292929"/>
                </a:solidFill>
                <a:latin typeface="Inter"/>
              </a:rPr>
              <a:t>plusieurs sociétés</a:t>
            </a:r>
            <a:r>
              <a:rPr sz="1400" b="0">
                <a:solidFill>
                  <a:srgbClr val="292929"/>
                </a:solidFill>
                <a:latin typeface="Inter"/>
              </a:rPr>
              <a:t> dans le groupe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Paiement de </a:t>
            </a:r>
            <a:r>
              <a:rPr sz="1400" b="1">
                <a:solidFill>
                  <a:srgbClr val="292929"/>
                </a:solidFill>
                <a:latin typeface="Inter"/>
              </a:rPr>
              <a:t>fournisseurs par virement bancaire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Bénéficiaires répartis sur </a:t>
            </a:r>
            <a:r>
              <a:rPr sz="1400" b="1">
                <a:solidFill>
                  <a:srgbClr val="292929"/>
                </a:solidFill>
                <a:latin typeface="Inter"/>
              </a:rPr>
              <a:t>plusieurs opérateurs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1">
                <a:solidFill>
                  <a:srgbClr val="292929"/>
                </a:solidFill>
                <a:latin typeface="Inter"/>
              </a:rPr>
              <a:t>Validation à deux signatures</a:t>
            </a:r>
            <a:r>
              <a:rPr sz="1400" b="0">
                <a:solidFill>
                  <a:srgbClr val="292929"/>
                </a:solidFill>
                <a:latin typeface="Inter"/>
              </a:rPr>
              <a:t> obligatoire : ONG et projets de bailleurs, BTP, distribution, sociétés auditées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Présence dans </a:t>
            </a:r>
            <a:r>
              <a:rPr sz="1400" b="1">
                <a:solidFill>
                  <a:srgbClr val="292929"/>
                </a:solidFill>
                <a:latin typeface="Inter"/>
              </a:rPr>
              <a:t>plusieurs pays</a:t>
            </a:r>
            <a:r>
              <a:rPr sz="1400" b="0">
                <a:solidFill>
                  <a:srgbClr val="292929"/>
                </a:solidFill>
                <a:latin typeface="Inter"/>
              </a:rPr>
              <a:t> : Côte d'Ivoire, Sénégal, Bénin, Togo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Collecte d'espèces d'un </a:t>
            </a:r>
            <a:r>
              <a:rPr sz="1400" b="1">
                <a:solidFill>
                  <a:srgbClr val="292929"/>
                </a:solidFill>
                <a:latin typeface="Inter"/>
              </a:rPr>
              <a:t>réseau de vendeurs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2000" y="1692000"/>
            <a:ext cx="5112000" cy="4248000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2000" y="1692000"/>
            <a:ext cx="5112000" cy="90000"/>
          </a:xfrm>
          <a:prstGeom prst="rect">
            <a:avLst/>
          </a:prstGeom>
          <a:solidFill>
            <a:srgbClr val="DC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8000" y="1908000"/>
            <a:ext cx="46800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C9248"/>
                </a:solidFill>
                <a:latin typeface="Outfit"/>
              </a:rPr>
              <a:t>Wave suffit, on ne force pas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Petite structure qui paie quelques salariés, tous sur Wave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Encaissement en boutique de petits montants : 20 000 FCFA gratuits par jour chez Wave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Aucune validation, aucune comptabilité à alimenter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On note le contact au vivier, avec une date de réexamen quand la structure grandit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Les objections, et la question qui fait avancer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224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Inter"/>
              </a:rPr>
              <a:t>On répond à la cause, pas au mot prononcé. Et on finit toujours par une question.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4000" y="1692000"/>
          <a:ext cx="10439998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184"/>
                <a:gridCol w="912233"/>
                <a:gridCol w="3040776"/>
                <a:gridCol w="2331262"/>
                <a:gridCol w="2128543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Ce qu'on entend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Famille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Réponse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Si ça ne passe pas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La question à poser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« Wave, c'est 1 %. Vous êtes plus chers. 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On compare le coût de </a:t>
                      </a:r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tous les flux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, pas d'une ligne. Chez Julaya, de 0,5 % à 1,5 % selon le volume, et les banques, fournisseurs et factures passent par le même compte.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Proposer de chiffrer ensemble ses trois derniers mois de paiements, validation et rapprochement compris.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« Quelle part de vos paiements ne part pas vers Wave ? 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« Tous nos employés ont Wave. »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Julaya paie aussi vers Wave. La question, c'est ce qui se passe pour les fournisseurs, les prestataires et les factures.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Garder les salaires sur Wave si c'est son choix, et montrer le reste sur Julaya.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« Et vos fournisseurs, vous les payez comment aujourd'hui ? »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« Wave, c'est plus simple, l'équipe connaît. 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 point est juste. Julaya reste simple côté bénéficiaire, et ajoute le </a:t>
                      </a:r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contrôle du DAF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 avant que l'argent parte.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 témoignage public : « je peux verser 500 salaires vers tous les réseaux Mobile Money en moins de 5 minutes ».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« Qui valide un lot de paiement avant qu'il parte, aujourd'hui ? 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Les objections, et la question qui fait avancer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224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Inter"/>
              </a:rPr>
              <a:t>On répond à la cause, pas au mot prononcé. Et on finit toujours par une question.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4000" y="1692000"/>
          <a:ext cx="10439998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184"/>
                <a:gridCol w="912233"/>
                <a:gridCol w="3040776"/>
                <a:gridCol w="2331262"/>
                <a:gridCol w="2128543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Ce qu'on entend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Famille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Réponse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Si ça ne passe pas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La question à poser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« On teste Wave en parallèle. » (client Julaya)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On ne se bat pas. On propose une </a:t>
                      </a:r>
                      <a:r>
                        <a:rPr sz="1100" b="1">
                          <a:solidFill>
                            <a:srgbClr val="292929"/>
                          </a:solidFill>
                          <a:latin typeface="Inter"/>
                        </a:rPr>
                        <a:t>revue de compte</a:t>
                      </a:r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 : ce que coûte de partager ses paiements entre deux outils.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Si le client garde Wave pour une partie, on garde le reste et l'intégration comptable.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« Qu'est-ce qui vous a fait regarder Wave ? 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« Wave est plus connu, plus rassurant. »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Valeur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Sans un mot sur Wave : plus de 1 000 moyennes et grandes entreprises utilisent Julaya, banques partenaires dans 4 pays, références publiques (EMD, SODECA).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Mettre le prospect en contact avec un client du même secteur ⟦si le client accepte, à demander d'abord⟧.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« Qu'est-ce qu'il vous faudrait voir pour être rassuré ? »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« On verra plus tard. » / « Je dois en parler. 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Pouvoir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On ne parle pas au décideur. On demande avec qui en parler, et on l'obtient.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Proposer une démonstration de 30 minutes avec le DAF et la personne qui fait la paie.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« Qui d'autre doit être dans la pièce pour décider ? 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Le calcul à faire avec le prospect, sur ses chiffres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224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Inter"/>
              </a:rPr>
              <a:t>Pas de retour sur investissement inventé : on remplit ce tableau avec lui, sur ses trois derniers mois.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4000" y="1692000"/>
          <a:ext cx="1044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400"/>
                <a:gridCol w="2923200"/>
                <a:gridCol w="2923200"/>
                <a:gridCol w="1879200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Poste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Avec deux ou trois outils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Avec Julaya seul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Qui fournit le chiffre</a:t>
                      </a:r>
                    </a:p>
                  </a:txBody>
                  <a:tcPr>
                    <a:solidFill>
                      <a:srgbClr val="29292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Frais de transfert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⟦1 % sur la part Wave + frais banque et autres opérateurs⟧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⟦tarif Julaya selon son volume⟧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 prospect, ses relevés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Temps de préparation des lots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⟦heures par mois⟧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⟦heures par mois⟧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La personne qui fait la paie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Rapprochement comptable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⟦jours par mois, plusieurs exports⟧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⟦un export⟧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 comptable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Paiements à refaire ou en litige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⟦nombre par mois⟧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⟦nombre par mois⟧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 DAF</a:t>
                      </a:r>
                    </a:p>
                  </a:txBody>
                  <a:tcPr anchor="t">
                    <a:solidFill>
                      <a:srgbClr val="EEF5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856C6"/>
                          </a:solidFill>
                          <a:latin typeface="Inter"/>
                        </a:rPr>
                        <a:t>Contrôle avant paiement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C9248"/>
                          </a:solidFill>
                          <a:latin typeface="Inter"/>
                        </a:rPr>
                        <a:t>⟦qui valide, comment⟧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Circuit de signature dans l'outil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92929"/>
                          </a:solidFill>
                          <a:latin typeface="Inter"/>
                        </a:rPr>
                        <a:t>Le DAF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000" y="5976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5C5C"/>
                </a:solidFill>
                <a:latin typeface="Inter"/>
              </a:rPr>
              <a:t>Le tableau reste vide tant que le prospect n'a pas donné ses chiffres. C'est lui qui conclut, pas nous.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Ce qu'on ne dit jamais, et ce qui ne se promet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000" y="1224000"/>
            <a:ext cx="5112000" cy="424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4000" y="1224000"/>
            <a:ext cx="5112000" cy="90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6800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856C6"/>
                </a:solidFill>
                <a:latin typeface="Outfit"/>
              </a:rPr>
              <a:t>Jamais sur Wave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Rien sur sa santé financière, ses incidents, ses clients perdus ou ses équipes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Aucune phrase qui commence par « eux, ils… »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Aucun chiffre lu sur un blog ou entendu d'un tiers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5856C6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Jamais « nous sommes moins chers » : ce n'est pas vrai sur tous les volumes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2000" y="1224000"/>
            <a:ext cx="5112000" cy="4248000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2000" y="1224000"/>
            <a:ext cx="5112000" cy="90000"/>
          </a:xfrm>
          <a:prstGeom prst="rect">
            <a:avLst/>
          </a:prstGeom>
          <a:solidFill>
            <a:srgbClr val="DC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8000" y="1440000"/>
            <a:ext cx="4680000" cy="3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C9248"/>
                </a:solidFill>
                <a:latin typeface="Outfit"/>
              </a:rPr>
              <a:t>Jamais sans accord de la direction de Julaya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Une remise, un alignement sur le prix de Wave, un tarif hors grille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Un délai ou une fonction qui n'existe pas encore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Le nom d'un client cité comme référence sans son accord</a:t>
            </a:r>
          </a:p>
          <a:p>
            <a:pPr>
              <a:spcBef>
                <a:spcPts val="900"/>
              </a:spcBef>
            </a:pPr>
            <a:r>
              <a:rPr sz="1400" b="1">
                <a:solidFill>
                  <a:srgbClr val="DC9248"/>
                </a:solidFill>
                <a:latin typeface="Inter"/>
              </a:rPr>
              <a:t>•  </a:t>
            </a:r>
            <a:r>
              <a:rPr sz="1400" b="0">
                <a:solidFill>
                  <a:srgbClr val="292929"/>
                </a:solidFill>
                <a:latin typeface="Inter"/>
              </a:rPr>
              <a:t>Les conditions d'un client citées à un autre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108000"/>
          </a:xfrm>
          <a:prstGeom prst="rect">
            <a:avLst/>
          </a:prstGeom>
          <a:solidFill>
            <a:srgbClr val="585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000" y="396000"/>
            <a:ext cx="1246154" cy="3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000" y="360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92929"/>
                </a:solidFill>
                <a:latin typeface="Outfit"/>
              </a:rPr>
              <a:t>Ce qui reste à valider avant de distribuer 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5856C6"/>
                </a:solidFill>
                <a:latin typeface="Inter"/>
              </a:rPr>
              <a:t>1.  </a:t>
            </a:r>
            <a:r>
              <a:rPr sz="1600" b="1">
                <a:solidFill>
                  <a:srgbClr val="292929"/>
                </a:solidFill>
                <a:latin typeface="Inter"/>
              </a:rPr>
              <a:t>La grille de prix réelle</a:t>
            </a:r>
            <a:r>
              <a:rPr sz="1600" b="0">
                <a:solidFill>
                  <a:srgbClr val="292929"/>
                </a:solidFill>
                <a:latin typeface="Inter"/>
              </a:rPr>
              <a:t> par palier de volume, pour remplir le calcul avec le prospect sans approximation.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5856C6"/>
                </a:solidFill>
                <a:latin typeface="Inter"/>
              </a:rPr>
              <a:t>2.  </a:t>
            </a:r>
            <a:r>
              <a:rPr sz="1600" b="1">
                <a:solidFill>
                  <a:srgbClr val="292929"/>
                </a:solidFill>
                <a:latin typeface="Inter"/>
              </a:rPr>
              <a:t>La position de la direction</a:t>
            </a:r>
            <a:r>
              <a:rPr sz="1600" b="0">
                <a:solidFill>
                  <a:srgbClr val="292929"/>
                </a:solidFill>
                <a:latin typeface="Inter"/>
              </a:rPr>
              <a:t> sur un alignement ciblé, par exemple sur les seuls paiements vers Wave pour les comptes à risque.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5856C6"/>
                </a:solidFill>
                <a:latin typeface="Inter"/>
              </a:rPr>
              <a:t>3.  </a:t>
            </a:r>
            <a:r>
              <a:rPr sz="1600" b="1">
                <a:solidFill>
                  <a:srgbClr val="292929"/>
                </a:solidFill>
                <a:latin typeface="Inter"/>
              </a:rPr>
              <a:t>Deux ou trois clients d'accord</a:t>
            </a:r>
            <a:r>
              <a:rPr sz="1600" b="0">
                <a:solidFill>
                  <a:srgbClr val="292929"/>
                </a:solidFill>
                <a:latin typeface="Inter"/>
              </a:rPr>
              <a:t> pour être cités ou appelés par un prospect, par secteur.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5856C6"/>
                </a:solidFill>
                <a:latin typeface="Inter"/>
              </a:rPr>
              <a:t>4.  </a:t>
            </a:r>
            <a:r>
              <a:rPr sz="1600" b="1">
                <a:solidFill>
                  <a:srgbClr val="292929"/>
                </a:solidFill>
                <a:latin typeface="Inter"/>
              </a:rPr>
              <a:t>Les fonctions de Wave Business non publiées sur son site</a:t>
            </a:r>
            <a:r>
              <a:rPr sz="1600" b="0">
                <a:solidFill>
                  <a:srgbClr val="292929"/>
                </a:solidFill>
                <a:latin typeface="Inter"/>
              </a:rPr>
              <a:t> (validation à plusieurs, sous-comptes) : à vérifier sur une démonstration, pas à supposer.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5856C6"/>
                </a:solidFill>
                <a:latin typeface="Inter"/>
              </a:rPr>
              <a:t>5.  </a:t>
            </a:r>
            <a:r>
              <a:rPr sz="1600" b="1">
                <a:solidFill>
                  <a:srgbClr val="292929"/>
                </a:solidFill>
                <a:latin typeface="Inter"/>
              </a:rPr>
              <a:t>Les retours terrain</a:t>
            </a:r>
            <a:r>
              <a:rPr sz="1600" b="0">
                <a:solidFill>
                  <a:srgbClr val="292929"/>
                </a:solidFill>
                <a:latin typeface="Inter"/>
              </a:rPr>
              <a:t> : les trois objections que les commerciaux entendent vraiment, dans les mots des prospects, pour remplacer celles-ci.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5C5C"/>
                </a:solidFill>
                <a:latin typeface="Inter"/>
              </a:rPr>
              <a:t>Les faits de ce deck viennent des sites publics de Wave et de Julaya au 21/10/2026. Aucun chiffre interne de Julaya n'a été utilisé.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64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Inter"/>
              </a:rPr>
              <a:t>Julaya face à Wave Business · document interne, ne pas transmettre aux prospects ·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