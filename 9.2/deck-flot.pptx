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(1 minute). Se présenter, dire que la séance dure 20 minutes dont 8 de questions. FICTIF : l'auditoire et le lieu de la séance sont inventés ; adapter au parc ou au groupe réellement visé. Rien n'est envoyé ni publié.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 : le métier ne change pas, la propriété change. Lire les deux colonnes à voix haute, puis les trois chiffres. Dire « annoncé par Flot » pour −50 % et +109 % : le site ne donne ni période ni méthode. Ne pas les transformer en promesse de revenu.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la photo : « c'est la flotte Flot telle qu'elle roule aujourd'hui » (formulation du site). Détails pratiques de recharge (autonomie, temps de charge, points) : le site dit qu'ils sont présentés à l'inscription, donc ne pas les chiffrer en séance ⟦à renseigner par Flot⟧.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simulateur du site est illustratif : le dire. Ne pas en tirer un « il te restera 400 000 F » : recharge, entretien, assurance et commission des plateformes ne sont pas chiffrés par le site. Saison des pluies : hypothèse de travail, les courses baissent certains mois ; aucune statistique publique trouvée, donc aucun chiffre. La règle de report est ⟦à confirmer par Flot⟧ ; sans réponse écrite de Flot, ne rien promettre.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Clôture : une seule demande, vérifier l'éligibilité. Les logos affichés sur le site (Yango, Société Générale, Ascoma, Orange Bank, etc.) ne valent pas autorisation de les citer : ne pas les nommer comme partenaires sans accord de Flot. Suite proposée, non lancée : liste de prospects (parcs et groupes de chauffeurs, test 5.2), messages d'accroche, envoi (sur accord de Flot), prise de rendez-vous. Rien n'a été envoyé, aucun chauffeur ni parc contacté.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6858006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0_70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6" y="0"/>
            <a:ext cx="5524504" cy="68580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91305" y="0"/>
            <a:ext cx="76200" cy="6858006"/>
          </a:xfrm>
          <a:prstGeom prst="rect">
            <a:avLst/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l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95300"/>
            <a:ext cx="1504951" cy="495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3400" y="1219201"/>
            <a:ext cx="5486404" cy="609600"/>
          </a:xfrm>
          <a:prstGeom prst="roundRect">
            <a:avLst>
              <a:gd name="adj" fmla="val 9375"/>
            </a:avLst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333501"/>
            <a:ext cx="5334004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937" b="1">
                <a:solidFill>
                  <a:srgbClr val="6B4E00"/>
                </a:solidFill>
                <a:latin typeface="Sora"/>
              </a:rPr>
              <a:t>FICTIF : la séance, l'auditoire et la règle « saison des pluies » sont inventés pour l'entraînement.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09801"/>
            <a:ext cx="5334004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050" b="1">
                <a:solidFill>
                  <a:srgbClr val="00E67B"/>
                </a:solidFill>
                <a:latin typeface="Sora"/>
              </a:rPr>
              <a:t>PRÉSENTATION AUX CHAUFFEURS VTC · ABIDJAN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628902"/>
            <a:ext cx="5619755" cy="2095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880"/>
              </a:lnSpc>
            </a:pPr>
            <a:r>
              <a:rPr sz="3150" b="1">
                <a:solidFill>
                  <a:srgbClr val="FFFFFF"/>
                </a:solidFill>
                <a:latin typeface="Sora"/>
              </a:rPr>
              <a:t>Chauffeur, deviens patron : ta voiture électrique en 36 mois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857754"/>
            <a:ext cx="542925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800"/>
              </a:lnSpc>
            </a:pPr>
            <a:r>
              <a:rPr sz="1425" b="0">
                <a:solidFill>
                  <a:srgbClr val="D6D8E6"/>
                </a:solidFill>
                <a:latin typeface="Sora"/>
              </a:rPr>
              <a:t>Sans apport, sans banque. Tu paies un montant fixe sur tes courses, et elle devient la tienne.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324605"/>
            <a:ext cx="571500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862" b="0">
                <a:solidFill>
                  <a:srgbClr val="AAAABB"/>
                </a:solidFill>
                <a:latin typeface="Sora"/>
              </a:rPr>
              <a:t>Kouassi, Expert commercial et ventes · 16/10/2026 · source : flot.africa, lue le 15/10/2026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95250"/>
          </a:xfrm>
          <a:prstGeom prst="rect">
            <a:avLst/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584" y="285750"/>
            <a:ext cx="1266826" cy="41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7810507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800"/>
              </a:lnSpc>
            </a:pPr>
            <a:r>
              <a:rPr sz="2250" b="1">
                <a:solidFill>
                  <a:srgbClr val="2B2D42"/>
                </a:solidFill>
                <a:latin typeface="Sora"/>
              </a:rPr>
              <a:t>Aujourd'hui tu roules pour la voiture d'un autre. Avec Flot, tu roules pour toi.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62705"/>
            <a:ext cx="952500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2" b="0">
                <a:solidFill>
                  <a:srgbClr val="5B5E72"/>
                </a:solidFill>
                <a:latin typeface="Sora"/>
              </a:rPr>
              <a:t>Source : flot.africa, accueil, lue le 15/10/2026. Chiffres annoncés par Flot : base de calcul et période non publiées, à citer comme « annoncés par Flot 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428751"/>
            <a:ext cx="5257804" cy="2857502"/>
          </a:xfrm>
          <a:prstGeom prst="roundRect">
            <a:avLst>
              <a:gd name="adj" fmla="val 4666"/>
            </a:avLst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24605" y="1428751"/>
            <a:ext cx="5257804" cy="2857502"/>
          </a:xfrm>
          <a:prstGeom prst="roundRect">
            <a:avLst>
              <a:gd name="adj" fmla="val 4666"/>
            </a:avLst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5" y="1428751"/>
            <a:ext cx="76200" cy="2857502"/>
          </a:xfrm>
          <a:prstGeom prst="rect">
            <a:avLst/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1600201"/>
            <a:ext cx="476250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500" b="1">
                <a:solidFill>
                  <a:srgbClr val="5B5E72"/>
                </a:solidFill>
                <a:latin typeface="Sora"/>
              </a:rPr>
              <a:t>Sans Flot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019301"/>
            <a:ext cx="4762504" cy="2190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312" b="0">
                <a:solidFill>
                  <a:srgbClr val="2B2D42"/>
                </a:solidFill>
                <a:latin typeface="Sora"/>
              </a:rPr>
              <a:t>• Tu loues, mois après mois, sans fin</a:t>
            </a:r>
          </a:p>
          <a:p>
            <a:pPr algn="l">
              <a:lnSpc>
                <a:spcPct val="138000"/>
              </a:lnSpc>
            </a:pPr>
            <a:r>
              <a:rPr sz="1312" b="0">
                <a:solidFill>
                  <a:srgbClr val="2B2D42"/>
                </a:solidFill>
                <a:latin typeface="Sora"/>
              </a:rPr>
              <a:t>• Le carburant emporte une grande partie de tes gains</a:t>
            </a:r>
          </a:p>
          <a:p>
            <a:pPr algn="l">
              <a:lnSpc>
                <a:spcPct val="138000"/>
              </a:lnSpc>
            </a:pPr>
            <a:r>
              <a:rPr sz="1312" b="0">
                <a:solidFill>
                  <a:srgbClr val="2B2D42"/>
                </a:solidFill>
                <a:latin typeface="Sora"/>
              </a:rPr>
              <a:t>• La voiture reste celle de quelqu'un d'autre</a:t>
            </a:r>
          </a:p>
          <a:p>
            <a:pPr algn="l">
              <a:lnSpc>
                <a:spcPct val="138000"/>
              </a:lnSpc>
            </a:pPr>
            <a:r>
              <a:rPr sz="1312" b="0">
                <a:solidFill>
                  <a:srgbClr val="2B2D42"/>
                </a:solidFill>
                <a:latin typeface="Sora"/>
              </a:rPr>
              <a:t>• Le jour où tu t'arrêtes, il ne te reste rien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5" y="1600201"/>
            <a:ext cx="476250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500" b="1">
                <a:solidFill>
                  <a:srgbClr val="00E67B"/>
                </a:solidFill>
                <a:latin typeface="Sora"/>
              </a:rPr>
              <a:t>Avec Flot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5" y="2019301"/>
            <a:ext cx="4762504" cy="2190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312" b="0">
                <a:solidFill>
                  <a:srgbClr val="FFFFFF"/>
                </a:solidFill>
                <a:latin typeface="Sora"/>
              </a:rPr>
              <a:t>• Un montant fixe, prélevé sur tes courses</a:t>
            </a:r>
          </a:p>
          <a:p>
            <a:pPr algn="l">
              <a:lnSpc>
                <a:spcPct val="138000"/>
              </a:lnSpc>
            </a:pPr>
            <a:r>
              <a:rPr sz="1312" b="0">
                <a:solidFill>
                  <a:srgbClr val="FFFFFF"/>
                </a:solidFill>
                <a:latin typeface="Sora"/>
              </a:rPr>
              <a:t>• Zéro carburant : tu recharges, et c'est tout</a:t>
            </a:r>
          </a:p>
          <a:p>
            <a:pPr algn="l">
              <a:lnSpc>
                <a:spcPct val="138000"/>
              </a:lnSpc>
            </a:pPr>
            <a:r>
              <a:rPr sz="1312" b="0">
                <a:solidFill>
                  <a:srgbClr val="FFFFFF"/>
                </a:solidFill>
                <a:latin typeface="Sora"/>
              </a:rPr>
              <a:t>• En 36 mois, la voiture devient la tienne</a:t>
            </a:r>
          </a:p>
          <a:p>
            <a:pPr algn="l">
              <a:lnSpc>
                <a:spcPct val="138000"/>
              </a:lnSpc>
            </a:pPr>
            <a:r>
              <a:rPr sz="1312" b="0">
                <a:solidFill>
                  <a:srgbClr val="FFFFFF"/>
                </a:solidFill>
                <a:latin typeface="Sora"/>
              </a:rPr>
              <a:t>• Tu te constitues un vrai patrimoine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4552954"/>
            <a:ext cx="3581403" cy="1524001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" y="4667254"/>
            <a:ext cx="323850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2550" b="1">
                <a:solidFill>
                  <a:srgbClr val="06B863"/>
                </a:solidFill>
                <a:latin typeface="Sora"/>
              </a:rPr>
              <a:t>0 apport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5257804"/>
            <a:ext cx="3200402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87" b="0">
                <a:solidFill>
                  <a:srgbClr val="5B5E72"/>
                </a:solidFill>
                <a:latin typeface="Sora"/>
              </a:rPr>
              <a:t>Tu démarres sans rien avancer. Pas de banque.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5804" y="4552954"/>
            <a:ext cx="3581403" cy="1524001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5354" y="4667254"/>
            <a:ext cx="323850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2550" b="1">
                <a:solidFill>
                  <a:srgbClr val="06B863"/>
                </a:solidFill>
                <a:latin typeface="Sora"/>
              </a:rPr>
              <a:t>−50 %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5354" y="5257804"/>
            <a:ext cx="3200402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87" b="0">
                <a:solidFill>
                  <a:srgbClr val="5B5E72"/>
                </a:solidFill>
                <a:latin typeface="Sora"/>
              </a:rPr>
              <a:t>de dépenses d'énergie : la recharge coûte moins que le carburant (annoncé par Flot)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2007" y="4552954"/>
            <a:ext cx="3581403" cy="1524001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1557" y="4667254"/>
            <a:ext cx="323850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2550" b="1">
                <a:solidFill>
                  <a:srgbClr val="06B863"/>
                </a:solidFill>
                <a:latin typeface="Sora"/>
              </a:rPr>
              <a:t>+109 %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1557" y="5257804"/>
            <a:ext cx="3200402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87" b="0">
                <a:solidFill>
                  <a:srgbClr val="5B5E72"/>
                </a:solidFill>
                <a:latin typeface="Sora"/>
              </a:rPr>
              <a:t>de revenu disponible pour le chauffeur (annoncé par Flot)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95250"/>
          </a:xfrm>
          <a:prstGeom prst="rect">
            <a:avLst/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584" y="285750"/>
            <a:ext cx="1266826" cy="41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7810507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800"/>
              </a:lnSpc>
            </a:pPr>
            <a:r>
              <a:rPr sz="2250" b="1">
                <a:solidFill>
                  <a:srgbClr val="2B2D42"/>
                </a:solidFill>
                <a:latin typeface="Sora"/>
              </a:rPr>
              <a:t>La voiture neuve, puis quatre étapes jusqu'à la propriété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62705"/>
            <a:ext cx="952500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2" b="0">
                <a:solidFill>
                  <a:srgbClr val="5B5E72"/>
                </a:solidFill>
                <a:latin typeface="Sora"/>
              </a:rPr>
              <a:t>Source : flot.africa, /vehicules-electriques et /comment-ca-marche, lues le 15/10/2026. Photos : flot.africa.</a:t>
            </a:r>
          </a:p>
        </p:txBody>
      </p:sp>
      <p:pic>
        <p:nvPicPr>
          <p:cNvPr id="6" name="Picture 5" descr="_c2_64_1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28751"/>
            <a:ext cx="4095753" cy="31432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686304"/>
            <a:ext cx="409575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087" b="1">
                <a:solidFill>
                  <a:srgbClr val="2B2D42"/>
                </a:solidFill>
                <a:latin typeface="Sora"/>
              </a:rPr>
              <a:t>Wuling Bingo S · 100 % électrique · 5 places · neuve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972054"/>
            <a:ext cx="4095753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800"/>
              </a:lnSpc>
            </a:pPr>
            <a:r>
              <a:rPr sz="1050" b="0">
                <a:solidFill>
                  <a:srgbClr val="5B5E72"/>
                </a:solidFill>
                <a:latin typeface="Sora"/>
              </a:rPr>
              <a:t>Pas de moteur thermique : zéro essence, zéro vidange. Tu branches au lieu de faire le plein, chez toi, au bureau ou sur une borne d'Abidjan.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4" y="1428751"/>
            <a:ext cx="6438905" cy="1028700"/>
          </a:xfrm>
          <a:prstGeom prst="roundRect">
            <a:avLst>
              <a:gd name="adj" fmla="val 12962"/>
            </a:avLst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95904" y="1676401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95904" y="1676401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9600"/>
              </a:lnSpc>
            </a:pPr>
            <a:r>
              <a:rPr sz="1650" b="1">
                <a:solidFill>
                  <a:srgbClr val="00E67B"/>
                </a:solidFill>
                <a:latin typeface="Sor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755" y="1543051"/>
            <a:ext cx="542925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350" b="1">
                <a:solidFill>
                  <a:srgbClr val="2B2D42"/>
                </a:solidFill>
                <a:latin typeface="Sora"/>
              </a:rPr>
              <a:t>Tu vérifies ton éligibilité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755" y="1847851"/>
            <a:ext cx="5429254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960"/>
              </a:lnSpc>
            </a:pPr>
            <a:r>
              <a:rPr sz="1012" b="0">
                <a:solidFill>
                  <a:srgbClr val="5B5E72"/>
                </a:solidFill>
                <a:latin typeface="Sora"/>
              </a:rPr>
              <a:t>Quelques questions sur ton activité (depuis quand tu roules, sur quelle plateforme). Pas de gros dossier bancaire.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4" y="2590802"/>
            <a:ext cx="6438905" cy="1028700"/>
          </a:xfrm>
          <a:prstGeom prst="roundRect">
            <a:avLst>
              <a:gd name="adj" fmla="val 12962"/>
            </a:avLst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95904" y="2838452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5904" y="2838452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9600"/>
              </a:lnSpc>
            </a:pPr>
            <a:r>
              <a:rPr sz="1650" b="1">
                <a:solidFill>
                  <a:srgbClr val="00E67B"/>
                </a:solidFill>
                <a:latin typeface="Sor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0755" y="2705102"/>
            <a:ext cx="542925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350" b="1">
                <a:solidFill>
                  <a:srgbClr val="2B2D42"/>
                </a:solidFill>
                <a:latin typeface="Sora"/>
              </a:rPr>
              <a:t>Tu reçois ta voiture électrique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755" y="3009902"/>
            <a:ext cx="5429254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960"/>
              </a:lnSpc>
            </a:pPr>
            <a:r>
              <a:rPr sz="1012" b="0">
                <a:solidFill>
                  <a:srgbClr val="5B5E72"/>
                </a:solidFill>
                <a:latin typeface="Sora"/>
              </a:rPr>
              <a:t>Flot s'occupe du financement et de la mise en route. Tu repars avec ton véhicule.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3504" y="3752853"/>
            <a:ext cx="6438905" cy="1028700"/>
          </a:xfrm>
          <a:prstGeom prst="roundRect">
            <a:avLst>
              <a:gd name="adj" fmla="val 12962"/>
            </a:avLst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95904" y="4000503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95904" y="4000503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9600"/>
              </a:lnSpc>
            </a:pPr>
            <a:r>
              <a:rPr sz="1650" b="1">
                <a:solidFill>
                  <a:srgbClr val="00E67B"/>
                </a:solidFill>
                <a:latin typeface="Sor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0755" y="3867153"/>
            <a:ext cx="542925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350" b="1">
                <a:solidFill>
                  <a:srgbClr val="2B2D42"/>
                </a:solidFill>
                <a:latin typeface="Sora"/>
              </a:rPr>
              <a:t>Tu roules et tu paies sur tes courses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0755" y="4171953"/>
            <a:ext cx="5429254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960"/>
              </a:lnSpc>
            </a:pPr>
            <a:r>
              <a:rPr sz="1012" b="0">
                <a:solidFill>
                  <a:srgbClr val="5B5E72"/>
                </a:solidFill>
                <a:latin typeface="Sora"/>
              </a:rPr>
              <a:t>Un montant fixe chaque mois, pensé pour rester tenable par rapport à ce que tu gagnes.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43504" y="4914904"/>
            <a:ext cx="6438905" cy="1028700"/>
          </a:xfrm>
          <a:prstGeom prst="roundRect">
            <a:avLst>
              <a:gd name="adj" fmla="val 12962"/>
            </a:avLst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95904" y="5162554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95904" y="5162554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9600"/>
              </a:lnSpc>
            </a:pPr>
            <a:r>
              <a:rPr sz="1650" b="1">
                <a:solidFill>
                  <a:srgbClr val="00E67B"/>
                </a:solidFill>
                <a:latin typeface="Sor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0755" y="5029204"/>
            <a:ext cx="542925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350" b="1">
                <a:solidFill>
                  <a:srgbClr val="2B2D42"/>
                </a:solidFill>
                <a:latin typeface="Sora"/>
              </a:rPr>
              <a:t>En 36 mois, elle est à toi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0755" y="5334004"/>
            <a:ext cx="5429254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960"/>
              </a:lnSpc>
            </a:pPr>
            <a:r>
              <a:rPr sz="1012" b="0">
                <a:solidFill>
                  <a:srgbClr val="5B5E72"/>
                </a:solidFill>
                <a:latin typeface="Sora"/>
              </a:rPr>
              <a:t>Tu as fini de payer : la carte grise passe à ton nom. Tu es propriétaire.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95250"/>
          </a:xfrm>
          <a:prstGeom prst="rect">
            <a:avLst/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584" y="285750"/>
            <a:ext cx="1266826" cy="41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7810507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800"/>
              </a:lnSpc>
            </a:pPr>
            <a:r>
              <a:rPr sz="2250" b="1">
                <a:solidFill>
                  <a:srgbClr val="2B2D42"/>
                </a:solidFill>
                <a:latin typeface="Sora"/>
              </a:rPr>
              <a:t>Ce que ça représente chaque mois, et ce qu'on répond quand la pluie ralentit les courses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62705"/>
            <a:ext cx="7048506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25" b="0">
                <a:solidFill>
                  <a:srgbClr val="5B5E72"/>
                </a:solidFill>
                <a:latin typeface="Sora"/>
              </a:rPr>
              <a:t>Source : simulateur de flot.africa/comment-ca-marche (« chiffres illustratifs »), lu le 15/10/2026. Mesure « saison des pluies » : FICTIVE tant que Flot ne l'a pas confirmée.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7" y="6362705"/>
            <a:ext cx="367665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25" b="1">
                <a:solidFill>
                  <a:srgbClr val="6B4E00"/>
                </a:solidFill>
                <a:latin typeface="Sora"/>
              </a:rPr>
              <a:t>FICTIF : la séance, l'auditoire et la règle « saison des pluies » sont inventés pour l'entraînement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619251"/>
            <a:ext cx="5448304" cy="4476754"/>
          </a:xfrm>
          <a:prstGeom prst="roundRect">
            <a:avLst>
              <a:gd name="adj" fmla="val 2978"/>
            </a:avLst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1752601"/>
            <a:ext cx="495300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425" b="1">
                <a:solidFill>
                  <a:srgbClr val="2B2D42"/>
                </a:solidFill>
                <a:latin typeface="Sora"/>
              </a:rPr>
              <a:t>L'exemple du simulateur de Flot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076451"/>
            <a:ext cx="49530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937" b="0">
                <a:solidFill>
                  <a:srgbClr val="5B5E72"/>
                </a:solidFill>
                <a:latin typeface="Sora"/>
              </a:rPr>
              <a:t>Illustratif : ton montant exact t'est présenté avant que tu t'engages.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7250" y="3048002"/>
            <a:ext cx="4953004" cy="14287"/>
          </a:xfrm>
          <a:prstGeom prst="rect">
            <a:avLst/>
          </a:prstGeom>
          <a:solidFill>
            <a:srgbClr val="DF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2571752"/>
            <a:ext cx="2857502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400"/>
              </a:lnSpc>
            </a:pPr>
            <a:r>
              <a:rPr sz="1162" b="0">
                <a:solidFill>
                  <a:srgbClr val="5B5E72"/>
                </a:solidFill>
                <a:latin typeface="Sora"/>
              </a:rPr>
              <a:t>Tu gagnes en moyenne par jour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3" y="2571752"/>
            <a:ext cx="2095501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9600"/>
              </a:lnSpc>
            </a:pPr>
            <a:r>
              <a:rPr sz="1500" b="1">
                <a:solidFill>
                  <a:srgbClr val="2B2D42"/>
                </a:solidFill>
                <a:latin typeface="Sora"/>
              </a:rPr>
              <a:t>25 000 FCFA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3714753"/>
            <a:ext cx="4953004" cy="14287"/>
          </a:xfrm>
          <a:prstGeom prst="rect">
            <a:avLst/>
          </a:prstGeom>
          <a:solidFill>
            <a:srgbClr val="DF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" y="3238502"/>
            <a:ext cx="2857502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400"/>
              </a:lnSpc>
            </a:pPr>
            <a:r>
              <a:rPr sz="1162" b="0">
                <a:solidFill>
                  <a:srgbClr val="5B5E72"/>
                </a:solidFill>
                <a:latin typeface="Sora"/>
              </a:rPr>
              <a:t>Revenu estimé par mois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3" y="3238502"/>
            <a:ext cx="2095501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9600"/>
              </a:lnSpc>
            </a:pPr>
            <a:r>
              <a:rPr sz="1500" b="1">
                <a:solidFill>
                  <a:srgbClr val="2B2D42"/>
                </a:solidFill>
                <a:latin typeface="Sora"/>
              </a:rPr>
              <a:t>650 000 FCFA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250" y="4381503"/>
            <a:ext cx="4953004" cy="14287"/>
          </a:xfrm>
          <a:prstGeom prst="rect">
            <a:avLst/>
          </a:prstGeom>
          <a:solidFill>
            <a:srgbClr val="DF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50" y="3905253"/>
            <a:ext cx="2857502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400"/>
              </a:lnSpc>
            </a:pPr>
            <a:r>
              <a:rPr sz="1162" b="0">
                <a:solidFill>
                  <a:srgbClr val="5B5E72"/>
                </a:solidFill>
                <a:latin typeface="Sora"/>
              </a:rPr>
              <a:t>Mensualité Flot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4753" y="3905253"/>
            <a:ext cx="2095501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9600"/>
              </a:lnSpc>
            </a:pPr>
            <a:r>
              <a:rPr sz="1500" b="1">
                <a:solidFill>
                  <a:srgbClr val="06B863"/>
                </a:solidFill>
                <a:latin typeface="Sora"/>
              </a:rPr>
              <a:t>250 000 FCFA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7250" y="5048254"/>
            <a:ext cx="4953004" cy="14287"/>
          </a:xfrm>
          <a:prstGeom prst="rect">
            <a:avLst/>
          </a:prstGeom>
          <a:solidFill>
            <a:srgbClr val="DF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50" y="4572004"/>
            <a:ext cx="2857502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400"/>
              </a:lnSpc>
            </a:pPr>
            <a:r>
              <a:rPr sz="1162" b="0">
                <a:solidFill>
                  <a:srgbClr val="5B5E72"/>
                </a:solidFill>
                <a:latin typeface="Sora"/>
              </a:rPr>
              <a:t>Carburant que tu ne paies plus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4753" y="4572004"/>
            <a:ext cx="2095501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9600"/>
              </a:lnSpc>
            </a:pPr>
            <a:r>
              <a:rPr sz="1500" b="1">
                <a:solidFill>
                  <a:srgbClr val="2B2D42"/>
                </a:solidFill>
                <a:latin typeface="Sora"/>
              </a:rPr>
              <a:t>≈ 140 000 FCFA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7250" y="5715005"/>
            <a:ext cx="4953004" cy="14287"/>
          </a:xfrm>
          <a:prstGeom prst="rect">
            <a:avLst/>
          </a:prstGeom>
          <a:solidFill>
            <a:srgbClr val="DF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250" y="5238754"/>
            <a:ext cx="2857502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400"/>
              </a:lnSpc>
            </a:pPr>
            <a:r>
              <a:rPr sz="1162" b="0">
                <a:solidFill>
                  <a:srgbClr val="5B5E72"/>
                </a:solidFill>
                <a:latin typeface="Sora"/>
              </a:rPr>
              <a:t>La voiture est à toi 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4753" y="5238754"/>
            <a:ext cx="2095501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9600"/>
              </a:lnSpc>
            </a:pPr>
            <a:r>
              <a:rPr sz="1500" b="1">
                <a:solidFill>
                  <a:srgbClr val="2B2D42"/>
                </a:solidFill>
                <a:latin typeface="Sora"/>
              </a:rPr>
              <a:t>juin 2029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605" y="1619251"/>
            <a:ext cx="5257804" cy="4476754"/>
          </a:xfrm>
          <a:prstGeom prst="roundRect">
            <a:avLst>
              <a:gd name="adj" fmla="val 2978"/>
            </a:avLst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4605" y="1619251"/>
            <a:ext cx="76200" cy="4476754"/>
          </a:xfrm>
          <a:prstGeom prst="rect">
            <a:avLst/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1305" y="1752601"/>
            <a:ext cx="476250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425" b="1">
                <a:solidFill>
                  <a:srgbClr val="00E67B"/>
                </a:solidFill>
                <a:latin typeface="Sora"/>
              </a:rPr>
              <a:t>Et si un mois est plus faible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1305" y="2152651"/>
            <a:ext cx="4762504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640"/>
              </a:lnSpc>
            </a:pPr>
            <a:r>
              <a:rPr sz="1162" b="1">
                <a:solidFill>
                  <a:srgbClr val="FFFFFF"/>
                </a:solidFill>
                <a:latin typeface="Sora"/>
              </a:rPr>
              <a:t>Ce que dit Flot (FAQ du site) :</a:t>
            </a:r>
            <a:r>
              <a:rPr sz="1162" b="0">
                <a:solidFill>
                  <a:srgbClr val="FFFFFF"/>
                </a:solidFill>
                <a:latin typeface="Sora"/>
              </a:rPr>
              <a:t> « On en parle avec toi. Flot accompagne chaque chauffeur dans la durée, les conditions précises te sont expliquées avant que tu signes. 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91305" y="3352803"/>
            <a:ext cx="4762504" cy="19050"/>
          </a:xfrm>
          <a:prstGeom prst="rect">
            <a:avLst/>
          </a:prstGeom>
          <a:solidFill>
            <a:srgbClr val="4A4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1305" y="3486153"/>
            <a:ext cx="4762504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162" b="1">
                <a:solidFill>
                  <a:srgbClr val="00E67B"/>
                </a:solidFill>
                <a:latin typeface="Sora"/>
              </a:rPr>
              <a:t>Pour la saison des pluies, à fixer avec Flot avant la séance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1305" y="4000503"/>
            <a:ext cx="4762504" cy="2000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087" b="0">
                <a:solidFill>
                  <a:srgbClr val="D6D8E6"/>
                </a:solidFill>
                <a:latin typeface="Sora"/>
              </a:rPr>
              <a:t>• Règle de report ou d'étalement d'une mensualité : ⟦à confirmer par Flot⟧</a:t>
            </a:r>
          </a:p>
          <a:p>
            <a:pPr algn="l">
              <a:lnSpc>
                <a:spcPct val="133400"/>
              </a:lnSpc>
            </a:pPr>
            <a:r>
              <a:rPr sz="1087" b="0">
                <a:solidFill>
                  <a:srgbClr val="D6D8E6"/>
                </a:solidFill>
                <a:latin typeface="Sora"/>
              </a:rPr>
              <a:t>• Délai pour prévenir l'équipe : ⟦à confirmer par Flot⟧</a:t>
            </a:r>
          </a:p>
          <a:p>
            <a:pPr algn="l">
              <a:lnSpc>
                <a:spcPct val="133400"/>
              </a:lnSpc>
            </a:pPr>
            <a:r>
              <a:rPr sz="1087" b="0">
                <a:solidFill>
                  <a:srgbClr val="D6D8E6"/>
                </a:solidFill>
                <a:latin typeface="Sora"/>
              </a:rPr>
              <a:t>• En séance : inviter à prévenir </a:t>
            </a:r>
            <a:r>
              <a:rPr sz="1087" b="1">
                <a:solidFill>
                  <a:srgbClr val="D6D8E6"/>
                </a:solidFill>
                <a:latin typeface="Sora"/>
              </a:rPr>
              <a:t>avant</a:t>
            </a:r>
            <a:r>
              <a:rPr sz="1087" b="0">
                <a:solidFill>
                  <a:srgbClr val="D6D8E6"/>
                </a:solidFill>
                <a:latin typeface="Sora"/>
              </a:rPr>
              <a:t> l'échéance, ne promettre aucune mesure non écrite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95250"/>
          </a:xfrm>
          <a:prstGeom prst="rect">
            <a:avLst/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584" y="285750"/>
            <a:ext cx="1266826" cy="41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42900"/>
            <a:ext cx="7810507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800"/>
              </a:lnSpc>
            </a:pPr>
            <a:r>
              <a:rPr sz="2250" b="1">
                <a:solidFill>
                  <a:srgbClr val="2B2D42"/>
                </a:solidFill>
                <a:latin typeface="Sora"/>
              </a:rPr>
              <a:t>Ils roulent déjà avec Flot. Pour toi, la suite prend 2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62705"/>
            <a:ext cx="952500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2" b="0">
                <a:solidFill>
                  <a:srgbClr val="5B5E72"/>
                </a:solidFill>
                <a:latin typeface="Sora"/>
              </a:rPr>
              <a:t>Source : témoignages publiés sur flot.africa (accueil), lus le 15/10/2026 ; non vérifiés de notre côté. Contact : flot.africa/eligibilite.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333501"/>
            <a:ext cx="3581403" cy="2209801"/>
          </a:xfrm>
          <a:prstGeom prst="roundRect">
            <a:avLst>
              <a:gd name="adj" fmla="val 6034"/>
            </a:avLst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33501"/>
            <a:ext cx="3581403" cy="57150"/>
          </a:xfrm>
          <a:prstGeom prst="rect">
            <a:avLst/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150" y="1447801"/>
            <a:ext cx="571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3000" b="1">
                <a:solidFill>
                  <a:srgbClr val="06B863"/>
                </a:solidFill>
                <a:latin typeface="Sora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1809751"/>
            <a:ext cx="3162302" cy="1238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800"/>
              </a:lnSpc>
            </a:pPr>
            <a:r>
              <a:rPr sz="1050" b="0">
                <a:solidFill>
                  <a:srgbClr val="2B2D42"/>
                </a:solidFill>
                <a:latin typeface="Sora"/>
              </a:rPr>
              <a:t>Flot m'a permis de devenir propriétaire de mon véhicule sans prise de tête. Le paiement sur mes courses est facile à gérer, et le service est réactif.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067052"/>
            <a:ext cx="31623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125" b="1">
                <a:solidFill>
                  <a:srgbClr val="2B2D42"/>
                </a:solidFill>
                <a:latin typeface="Sora"/>
              </a:rPr>
              <a:t>Koffi Kouadio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295652"/>
            <a:ext cx="316230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937" b="0">
                <a:solidFill>
                  <a:srgbClr val="5B5E72"/>
                </a:solidFill>
                <a:latin typeface="Sora"/>
              </a:rPr>
              <a:t>Chauffeur VTC à Abidjan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5804" y="1333501"/>
            <a:ext cx="3581403" cy="2209801"/>
          </a:xfrm>
          <a:prstGeom prst="roundRect">
            <a:avLst>
              <a:gd name="adj" fmla="val 6034"/>
            </a:avLst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5804" y="1333501"/>
            <a:ext cx="3581403" cy="57150"/>
          </a:xfrm>
          <a:prstGeom prst="rect">
            <a:avLst/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5354" y="1447801"/>
            <a:ext cx="571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3000" b="1">
                <a:solidFill>
                  <a:srgbClr val="06B863"/>
                </a:solidFill>
                <a:latin typeface="Sora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5354" y="1809751"/>
            <a:ext cx="3162302" cy="1238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800"/>
              </a:lnSpc>
            </a:pPr>
            <a:r>
              <a:rPr sz="1050" b="0">
                <a:solidFill>
                  <a:srgbClr val="2B2D42"/>
                </a:solidFill>
                <a:latin typeface="Sora"/>
              </a:rPr>
              <a:t>Payer sur mes courses m'a permis de m'adapter à mon budget. Aujourd'hui, je suis fière de conduire une voiture plus écologique.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5354" y="3067052"/>
            <a:ext cx="31623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125" b="1">
                <a:solidFill>
                  <a:srgbClr val="2B2D42"/>
                </a:solidFill>
                <a:latin typeface="Sora"/>
              </a:rPr>
              <a:t>Adjoa 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5354" y="3295652"/>
            <a:ext cx="316230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937" b="0">
                <a:solidFill>
                  <a:srgbClr val="5B5E72"/>
                </a:solidFill>
                <a:latin typeface="Sora"/>
              </a:rPr>
              <a:t>Chauffeuse VTC à Abidjan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82007" y="1333501"/>
            <a:ext cx="3581403" cy="2209801"/>
          </a:xfrm>
          <a:prstGeom prst="roundRect">
            <a:avLst>
              <a:gd name="adj" fmla="val 6034"/>
            </a:avLst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82007" y="1333501"/>
            <a:ext cx="3581403" cy="57150"/>
          </a:xfrm>
          <a:prstGeom prst="rect">
            <a:avLst/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1557" y="1447801"/>
            <a:ext cx="571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3000" b="1">
                <a:solidFill>
                  <a:srgbClr val="06B863"/>
                </a:solidFill>
                <a:latin typeface="Sora"/>
              </a:rPr>
              <a:t>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1557" y="1809751"/>
            <a:ext cx="3162302" cy="1238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800"/>
              </a:lnSpc>
            </a:pPr>
            <a:r>
              <a:rPr sz="1050" b="0">
                <a:solidFill>
                  <a:srgbClr val="2B2D42"/>
                </a:solidFill>
                <a:latin typeface="Sora"/>
              </a:rPr>
              <a:t>Avant, le propriétaire du véhicule me mettait une pression énorme. Aujourd'hui, je suis propriétaire de ma voiture, je roule sereinement et je gagne plus.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1557" y="3067052"/>
            <a:ext cx="31623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125" b="1">
                <a:solidFill>
                  <a:srgbClr val="2B2D42"/>
                </a:solidFill>
                <a:latin typeface="Sora"/>
              </a:rPr>
              <a:t>Jean-Claude N'Dri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1557" y="3295652"/>
            <a:ext cx="316230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937" b="0">
                <a:solidFill>
                  <a:srgbClr val="5B5E72"/>
                </a:solidFill>
                <a:latin typeface="Sora"/>
              </a:rPr>
              <a:t>Chauffeur VTC à Abidjan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3714753"/>
            <a:ext cx="10972809" cy="1428751"/>
          </a:xfrm>
          <a:prstGeom prst="roundRect">
            <a:avLst>
              <a:gd name="adj" fmla="val 10666"/>
            </a:avLst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3714753"/>
            <a:ext cx="95250" cy="1428751"/>
          </a:xfrm>
          <a:prstGeom prst="rect">
            <a:avLst/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3450" y="3848103"/>
            <a:ext cx="6667506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575" b="1">
                <a:solidFill>
                  <a:srgbClr val="FFFFFF"/>
                </a:solidFill>
                <a:latin typeface="Sora"/>
              </a:rPr>
              <a:t>Vérifie ton éligibilité : 2 minutes, gratuit, sans engagement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450" y="4267203"/>
            <a:ext cx="6667506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640"/>
              </a:lnSpc>
            </a:pPr>
            <a:r>
              <a:rPr sz="1087" b="0">
                <a:solidFill>
                  <a:srgbClr val="D6D8E6"/>
                </a:solidFill>
                <a:latin typeface="Sora"/>
              </a:rPr>
              <a:t>Tu réponds à quelques questions sur ton activité de chauffeur. Ta demande s'ouvre dans WhatsApp, prête à envoyer à l'équipe Flot, qui te dit rapidement si tu peux démarrer.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62907" y="3905253"/>
            <a:ext cx="3276602" cy="1047750"/>
          </a:xfrm>
          <a:prstGeom prst="roundRect">
            <a:avLst>
              <a:gd name="adj" fmla="val 12727"/>
            </a:avLst>
          </a:prstGeom>
          <a:solidFill>
            <a:srgbClr val="00E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62907" y="4000503"/>
            <a:ext cx="32766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9600"/>
              </a:lnSpc>
            </a:pPr>
            <a:r>
              <a:rPr sz="1050" b="1">
                <a:solidFill>
                  <a:srgbClr val="2B2D42"/>
                </a:solidFill>
                <a:latin typeface="Sora"/>
              </a:rPr>
              <a:t>WhatsApp Flot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2907" y="4286253"/>
            <a:ext cx="3276602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9600"/>
              </a:lnSpc>
            </a:pPr>
            <a:r>
              <a:rPr sz="1650" b="1">
                <a:solidFill>
                  <a:srgbClr val="2B2D42"/>
                </a:solidFill>
                <a:latin typeface="Sora"/>
              </a:rPr>
              <a:t>+225 05 85 21 90 90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2907" y="4705354"/>
            <a:ext cx="32766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9600"/>
              </a:lnSpc>
            </a:pPr>
            <a:r>
              <a:rPr sz="937" b="0">
                <a:solidFill>
                  <a:srgbClr val="2B2D42"/>
                </a:solidFill>
                <a:latin typeface="Sora"/>
              </a:rPr>
              <a:t>flot.africa/eligibilite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" y="5295904"/>
            <a:ext cx="10972809" cy="952500"/>
          </a:xfrm>
          <a:prstGeom prst="roundRect">
            <a:avLst>
              <a:gd name="adj" fmla="val 12000"/>
            </a:avLst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" y="5372104"/>
            <a:ext cx="10591809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9600"/>
              </a:lnSpc>
            </a:pPr>
            <a:r>
              <a:rPr sz="1087" b="1">
                <a:solidFill>
                  <a:srgbClr val="6B4E00"/>
                </a:solidFill>
                <a:latin typeface="Sora"/>
              </a:rPr>
              <a:t>Pour l'équipe Flot : suite proposée, non lancée (chaque étape attend votre accord)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" y="5638805"/>
            <a:ext cx="1059180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800"/>
              </a:lnSpc>
            </a:pPr>
            <a:r>
              <a:rPr sz="975" b="0">
                <a:solidFill>
                  <a:srgbClr val="4A3800"/>
                </a:solidFill>
                <a:latin typeface="Sora"/>
              </a:rPr>
              <a:t>1. Liste de prospects : parcs VTC et groupes de chauffeurs d'Abidjan (base du test 5.2)</a:t>
            </a:r>
          </a:p>
          <a:p>
            <a:pPr algn="l">
              <a:lnSpc>
                <a:spcPct val="128800"/>
              </a:lnSpc>
            </a:pPr>
            <a:r>
              <a:rPr sz="975" b="0">
                <a:solidFill>
                  <a:srgbClr val="4A3800"/>
                </a:solidFill>
                <a:latin typeface="Sora"/>
              </a:rPr>
              <a:t>2. Messages d'accroche WhatsApp et e-mail tirés de ce deck   ·   3. Envoi, sur accord seulement   ·   4. Prise de rendez-vous et séances de présentation, sur accord. Rien n'a été envoyé, aucun chauffeur contacté.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